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0" r:id="rId21"/>
    <p:sldId id="275" r:id="rId22"/>
    <p:sldId id="281" r:id="rId23"/>
    <p:sldId id="276" r:id="rId24"/>
    <p:sldId id="277" r:id="rId25"/>
    <p:sldId id="278" r:id="rId26"/>
    <p:sldId id="279"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D7DF2-E976-E55D-52BF-54DAE11624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BFC500-763B-10DA-6FA2-B64EC6D464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544F21-418D-A385-FE72-F6260FA2BE62}"/>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DC826533-D243-367C-5E9C-82651B4170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EA9D31-7B1A-3E52-233C-5CAB3DEF9FDF}"/>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212408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06C7-362E-DE16-0141-041D349FB8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F415ED-E1B6-2CE9-5194-7C77B82071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F35967-4078-712F-D2A7-62119A8B81FB}"/>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8B10D36F-0E38-56F0-C597-1AF6F656D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11440A-AD14-2490-1040-90062791BD97}"/>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1582528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057E2-974A-B3A1-558C-364728C85B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B4F333-CB95-CD49-36AC-8D573A0D5E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5375E1-F7BA-FD96-82EE-0A7768F5BC58}"/>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375C9331-6704-4C46-9891-EF46DAA562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181FCE-B33B-2D97-9714-82BF1537A3FA}"/>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4089423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70AF-70EE-3EA5-9AD5-CBA2DA1759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AE26AF-03EF-C9BF-AF58-8D8393275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C01D6C-1344-E81B-BC27-6903709756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FA8241-0644-81E2-C268-EABC6F63D26D}"/>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6" name="Footer Placeholder 5">
            <a:extLst>
              <a:ext uri="{FF2B5EF4-FFF2-40B4-BE49-F238E27FC236}">
                <a16:creationId xmlns:a16="http://schemas.microsoft.com/office/drawing/2014/main" id="{0C1D2BB4-9BF9-8D63-8121-310B7F51E0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7396F8-C5EF-2F26-1ECF-AD31E9B0BC53}"/>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2432470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A6308-0CAC-EB58-278E-DCE30BC665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2EBCE4-A200-F8E9-1216-736CC35E24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F55834-C5FA-8E0B-2C98-4AD1ADF36E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552D4A-EDCE-702E-1943-49E6FFF01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BC1F18-D078-4E40-3678-639449A8F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D52380-4CAB-4411-FAC1-DE0078AC8FAC}"/>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8" name="Footer Placeholder 7">
            <a:extLst>
              <a:ext uri="{FF2B5EF4-FFF2-40B4-BE49-F238E27FC236}">
                <a16:creationId xmlns:a16="http://schemas.microsoft.com/office/drawing/2014/main" id="{BDDD05D8-4DA3-10FB-486F-137F7DACB6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F735C5-E3E9-0E69-1987-857D2149585E}"/>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2375444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0E55-A3F2-C7AC-879D-596057E4A9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6EB028-5CC9-C4CB-2DAF-9F455E791363}"/>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4" name="Footer Placeholder 3">
            <a:extLst>
              <a:ext uri="{FF2B5EF4-FFF2-40B4-BE49-F238E27FC236}">
                <a16:creationId xmlns:a16="http://schemas.microsoft.com/office/drawing/2014/main" id="{DD8AE299-BF3B-52DF-28E8-6E50C8305F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9F2F1B-9830-5E8E-8510-306044023BCD}"/>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3487704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1E8598-AA98-7179-9BF2-DBBA85A7BE3D}"/>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3" name="Footer Placeholder 2">
            <a:extLst>
              <a:ext uri="{FF2B5EF4-FFF2-40B4-BE49-F238E27FC236}">
                <a16:creationId xmlns:a16="http://schemas.microsoft.com/office/drawing/2014/main" id="{73C9045F-D81E-3DA6-B387-B26C2A7A3E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A9E8FF-E1E0-34BF-95F6-63AAE69A44F2}"/>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3583650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11C0F-EBC1-CCEF-1A31-E0E04933A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EC9DE7-4745-8409-D58B-339E825169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50D4C3-3431-EF73-F408-2BA0FFA51B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441D90-1554-4D9C-61B5-1272E039C26B}"/>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6" name="Footer Placeholder 5">
            <a:extLst>
              <a:ext uri="{FF2B5EF4-FFF2-40B4-BE49-F238E27FC236}">
                <a16:creationId xmlns:a16="http://schemas.microsoft.com/office/drawing/2014/main" id="{6A837266-8212-CD55-C2C4-BE028C676A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A506CA-8C9E-DA67-4516-96F1FFF728B6}"/>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128352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A446D-2DDC-899F-5117-CEA2B9A95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AD6A5C-DEEC-0662-AC9F-AD50AEB92B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D9554D-B3C2-9064-B4C2-809370C84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6EB33-8E73-5330-6A73-6195E6DB8E92}"/>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6" name="Footer Placeholder 5">
            <a:extLst>
              <a:ext uri="{FF2B5EF4-FFF2-40B4-BE49-F238E27FC236}">
                <a16:creationId xmlns:a16="http://schemas.microsoft.com/office/drawing/2014/main" id="{952E1209-36AC-6F0A-A426-137132896B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3B847B-2288-2E8B-FA48-3597E3A38E72}"/>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47678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BFB93-B1EB-C417-F88D-C5F44C08F2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F3E42E-361D-6F2D-2DBE-3222E41B2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64CE40-C77E-126E-A9A5-BBE658548F73}"/>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6DDA0751-92FC-E01E-634B-1FA55454F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6CC7F7-C443-ADB0-2BBD-05D5D1E0C594}"/>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2637244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7BBB0C-0D60-B297-F354-868C17F931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9EAFD9-31D5-D8AE-8BFE-EBEF70011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84284B-F086-FE99-7DC7-E11ECBB4B8EF}"/>
              </a:ext>
            </a:extLst>
          </p:cNvPr>
          <p:cNvSpPr>
            <a:spLocks noGrp="1"/>
          </p:cNvSpPr>
          <p:nvPr>
            <p:ph type="dt" sz="half" idx="10"/>
          </p:nvPr>
        </p:nvSpPr>
        <p:spPr/>
        <p:txBody>
          <a:body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09DC3344-6216-475A-AE09-E1022B3F5F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0C5E3-95E2-F0DC-1897-6B389089B091}"/>
              </a:ext>
            </a:extLst>
          </p:cNvPr>
          <p:cNvSpPr>
            <a:spLocks noGrp="1"/>
          </p:cNvSpPr>
          <p:nvPr>
            <p:ph type="sldNum" sz="quarter" idx="12"/>
          </p:nvPr>
        </p:nvSpPr>
        <p:spPr/>
        <p:txBody>
          <a:bodyPr/>
          <a:lstStyle/>
          <a:p>
            <a:fld id="{68E4FB21-2240-4A93-B0E4-1BF6DA9C20BE}" type="slidenum">
              <a:rPr lang="en-IN" smtClean="0"/>
              <a:t>‹#›</a:t>
            </a:fld>
            <a:endParaRPr lang="en-IN"/>
          </a:p>
        </p:txBody>
      </p:sp>
    </p:spTree>
    <p:extLst>
      <p:ext uri="{BB962C8B-B14F-4D97-AF65-F5344CB8AC3E}">
        <p14:creationId xmlns:p14="http://schemas.microsoft.com/office/powerpoint/2010/main" val="1424385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A7DCF3-311C-A908-B799-CE1C4E0A1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887420-39A7-4792-C366-269B3B9A79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FEC23-886F-338B-ED14-F2E6F25939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87BCF2-ABF4-47F7-94FB-7D1D995981E7}" type="datetimeFigureOut">
              <a:rPr lang="en-IN" smtClean="0"/>
              <a:t>12-01-2026</a:t>
            </a:fld>
            <a:endParaRPr lang="en-IN"/>
          </a:p>
        </p:txBody>
      </p:sp>
      <p:sp>
        <p:nvSpPr>
          <p:cNvPr id="5" name="Footer Placeholder 4">
            <a:extLst>
              <a:ext uri="{FF2B5EF4-FFF2-40B4-BE49-F238E27FC236}">
                <a16:creationId xmlns:a16="http://schemas.microsoft.com/office/drawing/2014/main" id="{8110D464-52C0-FCC9-CB04-E7C000EC7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3E084F9-EBFA-51EB-791D-9BFADC7E6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4FB21-2240-4A93-B0E4-1BF6DA9C20BE}" type="slidenum">
              <a:rPr lang="en-IN" smtClean="0"/>
              <a:t>‹#›</a:t>
            </a:fld>
            <a:endParaRPr lang="en-IN"/>
          </a:p>
        </p:txBody>
      </p:sp>
    </p:spTree>
    <p:extLst>
      <p:ext uri="{BB962C8B-B14F-4D97-AF65-F5344CB8AC3E}">
        <p14:creationId xmlns:p14="http://schemas.microsoft.com/office/powerpoint/2010/main" val="3644047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angular.io/api/core/ElementRef" TargetMode="External"/><Relationship Id="rId2" Type="http://schemas.openxmlformats.org/officeDocument/2006/relationships/hyperlink" Target="https://angular.io/api/core/Directive"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angular.io/guide/glossary#template-expression" TargetMode="External"/><Relationship Id="rId2" Type="http://schemas.openxmlformats.org/officeDocument/2006/relationships/hyperlink" Target="https://angular.io/guide/glossary#pipe"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angular.io/api/common/DatePipe"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AA87-36D3-5C14-5ADA-654365782D9B}"/>
              </a:ext>
            </a:extLst>
          </p:cNvPr>
          <p:cNvSpPr>
            <a:spLocks noGrp="1"/>
          </p:cNvSpPr>
          <p:nvPr>
            <p:ph type="ctrTitle"/>
          </p:nvPr>
        </p:nvSpPr>
        <p:spPr>
          <a:xfrm>
            <a:off x="1272074" y="0"/>
            <a:ext cx="9144000" cy="2387600"/>
          </a:xfrm>
        </p:spPr>
        <p:txBody>
          <a:bodyPr>
            <a:normAutofit/>
          </a:bodyPr>
          <a:lstStyle/>
          <a:p>
            <a:r>
              <a:rPr lang="en-US" sz="9600" b="1" dirty="0"/>
              <a:t>Angular</a:t>
            </a:r>
            <a:endParaRPr lang="en-IN" sz="9600" b="1" dirty="0"/>
          </a:p>
        </p:txBody>
      </p:sp>
      <p:sp>
        <p:nvSpPr>
          <p:cNvPr id="4" name="Oval 3">
            <a:extLst>
              <a:ext uri="{FF2B5EF4-FFF2-40B4-BE49-F238E27FC236}">
                <a16:creationId xmlns:a16="http://schemas.microsoft.com/office/drawing/2014/main" id="{3D58F414-EBEF-7519-AC02-F0E13452A6F1}"/>
              </a:ext>
            </a:extLst>
          </p:cNvPr>
          <p:cNvSpPr/>
          <p:nvPr/>
        </p:nvSpPr>
        <p:spPr>
          <a:xfrm>
            <a:off x="793102" y="2733869"/>
            <a:ext cx="10926147" cy="36855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ü"/>
            </a:pPr>
            <a:r>
              <a:rPr lang="en-US" dirty="0"/>
              <a:t>Advantages of Angular</a:t>
            </a:r>
          </a:p>
          <a:p>
            <a:pPr marL="285750" indent="-285750" algn="ctr">
              <a:buFont typeface="Wingdings" panose="05000000000000000000" pitchFamily="2" charset="2"/>
              <a:buChar char="ü"/>
            </a:pPr>
            <a:endParaRPr lang="en-US" dirty="0"/>
          </a:p>
          <a:p>
            <a:pPr marL="285750" indent="-285750" algn="ctr">
              <a:buFont typeface="Wingdings" panose="05000000000000000000" pitchFamily="2" charset="2"/>
              <a:buChar char="ü"/>
            </a:pPr>
            <a:r>
              <a:rPr lang="en-US" dirty="0"/>
              <a:t>Strong framework</a:t>
            </a:r>
          </a:p>
          <a:p>
            <a:pPr marL="285750" indent="-285750" algn="ctr">
              <a:buFont typeface="Wingdings" panose="05000000000000000000" pitchFamily="2" charset="2"/>
              <a:buChar char="ü"/>
            </a:pPr>
            <a:endParaRPr lang="en-US" dirty="0"/>
          </a:p>
          <a:p>
            <a:pPr marL="285750" indent="-285750" algn="ctr">
              <a:buFont typeface="Wingdings" panose="05000000000000000000" pitchFamily="2" charset="2"/>
              <a:buChar char="ü"/>
            </a:pPr>
            <a:r>
              <a:rPr lang="en-US" dirty="0"/>
              <a:t>Type safety</a:t>
            </a:r>
          </a:p>
          <a:p>
            <a:pPr marL="285750" indent="-285750" algn="ctr">
              <a:buFont typeface="Wingdings" panose="05000000000000000000" pitchFamily="2" charset="2"/>
              <a:buChar char="ü"/>
            </a:pPr>
            <a:endParaRPr lang="en-US" dirty="0"/>
          </a:p>
          <a:p>
            <a:pPr marL="285750" indent="-285750" algn="ctr">
              <a:buFont typeface="Wingdings" panose="05000000000000000000" pitchFamily="2" charset="2"/>
              <a:buChar char="ü"/>
            </a:pPr>
            <a:r>
              <a:rPr lang="en-US" dirty="0"/>
              <a:t>High performance</a:t>
            </a:r>
          </a:p>
          <a:p>
            <a:pPr marL="285750" indent="-285750" algn="ctr">
              <a:buFont typeface="Wingdings" panose="05000000000000000000" pitchFamily="2" charset="2"/>
              <a:buChar char="ü"/>
            </a:pPr>
            <a:endParaRPr lang="en-US" dirty="0"/>
          </a:p>
          <a:p>
            <a:pPr marL="285750" indent="-285750" algn="ctr">
              <a:buFont typeface="Wingdings" panose="05000000000000000000" pitchFamily="2" charset="2"/>
              <a:buChar char="ü"/>
            </a:pPr>
            <a:r>
              <a:rPr lang="en-US" dirty="0"/>
              <a:t>Scalable applications</a:t>
            </a:r>
          </a:p>
          <a:p>
            <a:pPr marL="285750" indent="-285750" algn="ctr">
              <a:buFont typeface="Wingdings" panose="05000000000000000000" pitchFamily="2" charset="2"/>
              <a:buChar char="ü"/>
            </a:pPr>
            <a:endParaRPr lang="en-US" dirty="0"/>
          </a:p>
          <a:p>
            <a:pPr marL="285750" indent="-285750" algn="ctr">
              <a:buFont typeface="Wingdings" panose="05000000000000000000" pitchFamily="2" charset="2"/>
              <a:buChar char="ü"/>
            </a:pPr>
            <a:r>
              <a:rPr lang="en-US" dirty="0"/>
              <a:t>Official Google support</a:t>
            </a:r>
            <a:endParaRPr lang="en-IN" dirty="0"/>
          </a:p>
        </p:txBody>
      </p:sp>
    </p:spTree>
    <p:extLst>
      <p:ext uri="{BB962C8B-B14F-4D97-AF65-F5344CB8AC3E}">
        <p14:creationId xmlns:p14="http://schemas.microsoft.com/office/powerpoint/2010/main" val="3609835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DF55F8-3E48-B1C0-4959-F16C5435823F}"/>
              </a:ext>
            </a:extLst>
          </p:cNvPr>
          <p:cNvSpPr/>
          <p:nvPr/>
        </p:nvSpPr>
        <p:spPr>
          <a:xfrm>
            <a:off x="270588" y="279918"/>
            <a:ext cx="11047445" cy="29298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Box 1">
            <a:extLst>
              <a:ext uri="{FF2B5EF4-FFF2-40B4-BE49-F238E27FC236}">
                <a16:creationId xmlns:a16="http://schemas.microsoft.com/office/drawing/2014/main" id="{AF1E04EC-2F87-95FA-E028-02D5B3A96D35}"/>
              </a:ext>
            </a:extLst>
          </p:cNvPr>
          <p:cNvSpPr txBox="1"/>
          <p:nvPr/>
        </p:nvSpPr>
        <p:spPr>
          <a:xfrm>
            <a:off x="270588" y="373224"/>
            <a:ext cx="11355355" cy="2800767"/>
          </a:xfrm>
          <a:prstGeom prst="rect">
            <a:avLst/>
          </a:prstGeom>
          <a:noFill/>
        </p:spPr>
        <p:txBody>
          <a:bodyPr wrap="square" rtlCol="0">
            <a:spAutoFit/>
          </a:bodyPr>
          <a:lstStyle/>
          <a:p>
            <a:r>
              <a:rPr lang="en-US" sz="3200" b="1" dirty="0"/>
              <a:t>1. Introduction to Angular</a:t>
            </a:r>
          </a:p>
          <a:p>
            <a:endParaRPr lang="en-US" dirty="0"/>
          </a:p>
          <a:p>
            <a:pPr lvl="2"/>
            <a:r>
              <a:rPr lang="en-US" dirty="0"/>
              <a:t>Angular is a TypeScript-based front-end framework developed by Google</a:t>
            </a:r>
          </a:p>
          <a:p>
            <a:pPr lvl="2"/>
            <a:endParaRPr lang="en-US" dirty="0"/>
          </a:p>
          <a:p>
            <a:pPr lvl="2"/>
            <a:r>
              <a:rPr lang="en-US" dirty="0"/>
              <a:t>Used to build Single Page Applications (SPA)</a:t>
            </a:r>
          </a:p>
          <a:p>
            <a:pPr lvl="2"/>
            <a:endParaRPr lang="en-US" dirty="0"/>
          </a:p>
          <a:p>
            <a:pPr lvl="2"/>
            <a:r>
              <a:rPr lang="en-US" dirty="0"/>
              <a:t>Angular follows component-based architecture</a:t>
            </a:r>
          </a:p>
          <a:p>
            <a:pPr lvl="2"/>
            <a:endParaRPr lang="en-US" dirty="0"/>
          </a:p>
          <a:p>
            <a:pPr lvl="2"/>
            <a:r>
              <a:rPr lang="en-US" dirty="0"/>
              <a:t>Angular (2+) is different from AngularJS (1.x)</a:t>
            </a:r>
            <a:endParaRPr lang="en-IN" dirty="0"/>
          </a:p>
        </p:txBody>
      </p:sp>
      <p:sp>
        <p:nvSpPr>
          <p:cNvPr id="4" name="Rectangle 3">
            <a:extLst>
              <a:ext uri="{FF2B5EF4-FFF2-40B4-BE49-F238E27FC236}">
                <a16:creationId xmlns:a16="http://schemas.microsoft.com/office/drawing/2014/main" id="{372E3140-E3DD-30F2-E8A4-338396DE048F}"/>
              </a:ext>
            </a:extLst>
          </p:cNvPr>
          <p:cNvSpPr/>
          <p:nvPr/>
        </p:nvSpPr>
        <p:spPr>
          <a:xfrm>
            <a:off x="270587" y="3449161"/>
            <a:ext cx="11206065" cy="30247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1AF98381-97A4-69B4-5D0F-65AA84F3C0CD}"/>
              </a:ext>
            </a:extLst>
          </p:cNvPr>
          <p:cNvSpPr txBox="1"/>
          <p:nvPr/>
        </p:nvSpPr>
        <p:spPr>
          <a:xfrm>
            <a:off x="270587" y="3429000"/>
            <a:ext cx="10636898" cy="1354217"/>
          </a:xfrm>
          <a:prstGeom prst="rect">
            <a:avLst/>
          </a:prstGeom>
          <a:noFill/>
        </p:spPr>
        <p:txBody>
          <a:bodyPr wrap="square" rtlCol="0">
            <a:spAutoFit/>
          </a:bodyPr>
          <a:lstStyle/>
          <a:p>
            <a:r>
              <a:rPr lang="en-US" sz="3200" b="1" dirty="0"/>
              <a:t>2. Features of Angular</a:t>
            </a:r>
          </a:p>
          <a:p>
            <a:endParaRPr lang="en-US" sz="3200" b="1" dirty="0"/>
          </a:p>
          <a:p>
            <a:endParaRPr lang="en-IN" dirty="0"/>
          </a:p>
        </p:txBody>
      </p:sp>
      <p:sp>
        <p:nvSpPr>
          <p:cNvPr id="6" name="Rectangle 5">
            <a:extLst>
              <a:ext uri="{FF2B5EF4-FFF2-40B4-BE49-F238E27FC236}">
                <a16:creationId xmlns:a16="http://schemas.microsoft.com/office/drawing/2014/main" id="{26886FB7-A991-820B-2A1C-FEFC6F9DF95D}"/>
              </a:ext>
            </a:extLst>
          </p:cNvPr>
          <p:cNvSpPr/>
          <p:nvPr/>
        </p:nvSpPr>
        <p:spPr>
          <a:xfrm>
            <a:off x="485191" y="4078116"/>
            <a:ext cx="5169159" cy="21553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7E404419-7E58-844B-88B1-4129F9212A95}"/>
              </a:ext>
            </a:extLst>
          </p:cNvPr>
          <p:cNvSpPr txBox="1"/>
          <p:nvPr/>
        </p:nvSpPr>
        <p:spPr>
          <a:xfrm>
            <a:off x="485191" y="4163709"/>
            <a:ext cx="4833257" cy="2585323"/>
          </a:xfrm>
          <a:prstGeom prst="rect">
            <a:avLst/>
          </a:prstGeom>
          <a:noFill/>
        </p:spPr>
        <p:txBody>
          <a:bodyPr wrap="square" rtlCol="0">
            <a:spAutoFit/>
          </a:bodyPr>
          <a:lstStyle/>
          <a:p>
            <a:r>
              <a:rPr lang="en-US" dirty="0"/>
              <a:t>Component-based architecture</a:t>
            </a:r>
          </a:p>
          <a:p>
            <a:endParaRPr lang="en-US" dirty="0"/>
          </a:p>
          <a:p>
            <a:r>
              <a:rPr lang="en-US" dirty="0"/>
              <a:t>Two-way data binding</a:t>
            </a:r>
          </a:p>
          <a:p>
            <a:endParaRPr lang="en-US" dirty="0"/>
          </a:p>
          <a:p>
            <a:r>
              <a:rPr lang="en-US" dirty="0"/>
              <a:t>Dependency Injection</a:t>
            </a:r>
          </a:p>
          <a:p>
            <a:endParaRPr lang="en-US" dirty="0"/>
          </a:p>
          <a:p>
            <a:r>
              <a:rPr lang="en-US" dirty="0"/>
              <a:t>Directives</a:t>
            </a:r>
          </a:p>
          <a:p>
            <a:endParaRPr lang="en-US" dirty="0"/>
          </a:p>
          <a:p>
            <a:endParaRPr lang="en-IN" dirty="0"/>
          </a:p>
        </p:txBody>
      </p:sp>
      <p:sp>
        <p:nvSpPr>
          <p:cNvPr id="8" name="Rectangle 7">
            <a:extLst>
              <a:ext uri="{FF2B5EF4-FFF2-40B4-BE49-F238E27FC236}">
                <a16:creationId xmlns:a16="http://schemas.microsoft.com/office/drawing/2014/main" id="{5D9B65C2-0009-0E0D-D0D5-8FE5EAFF3772}"/>
              </a:ext>
            </a:extLst>
          </p:cNvPr>
          <p:cNvSpPr/>
          <p:nvPr/>
        </p:nvSpPr>
        <p:spPr>
          <a:xfrm>
            <a:off x="5906277" y="4052380"/>
            <a:ext cx="5169159" cy="21553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C3F7D021-C248-F4DA-5E59-07ADDC4EF7E7}"/>
              </a:ext>
            </a:extLst>
          </p:cNvPr>
          <p:cNvSpPr txBox="1"/>
          <p:nvPr/>
        </p:nvSpPr>
        <p:spPr>
          <a:xfrm>
            <a:off x="5906277" y="4137973"/>
            <a:ext cx="5169159" cy="2585323"/>
          </a:xfrm>
          <a:prstGeom prst="rect">
            <a:avLst/>
          </a:prstGeom>
          <a:noFill/>
        </p:spPr>
        <p:txBody>
          <a:bodyPr wrap="square" rtlCol="0">
            <a:spAutoFit/>
          </a:bodyPr>
          <a:lstStyle/>
          <a:p>
            <a:r>
              <a:rPr lang="en-US" dirty="0"/>
              <a:t>Services</a:t>
            </a:r>
          </a:p>
          <a:p>
            <a:endParaRPr lang="en-US" dirty="0"/>
          </a:p>
          <a:p>
            <a:r>
              <a:rPr lang="en-US" dirty="0"/>
              <a:t>Routing</a:t>
            </a:r>
          </a:p>
          <a:p>
            <a:endParaRPr lang="en-US" dirty="0"/>
          </a:p>
          <a:p>
            <a:r>
              <a:rPr lang="en-US" dirty="0" err="1"/>
              <a:t>RxJS</a:t>
            </a:r>
            <a:r>
              <a:rPr lang="en-US" dirty="0"/>
              <a:t> and Observables</a:t>
            </a:r>
          </a:p>
          <a:p>
            <a:endParaRPr lang="en-US" dirty="0"/>
          </a:p>
          <a:p>
            <a:r>
              <a:rPr lang="en-US" dirty="0"/>
              <a:t>Cross-platform support &amp; Strong TypeScript support</a:t>
            </a:r>
          </a:p>
          <a:p>
            <a:endParaRPr lang="en-US" dirty="0"/>
          </a:p>
          <a:p>
            <a:endParaRPr lang="en-IN" dirty="0"/>
          </a:p>
        </p:txBody>
      </p:sp>
    </p:spTree>
    <p:extLst>
      <p:ext uri="{BB962C8B-B14F-4D97-AF65-F5344CB8AC3E}">
        <p14:creationId xmlns:p14="http://schemas.microsoft.com/office/powerpoint/2010/main" val="2088282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01FDDE-6BBA-C190-7F65-145E03C4F581}"/>
              </a:ext>
            </a:extLst>
          </p:cNvPr>
          <p:cNvSpPr/>
          <p:nvPr/>
        </p:nvSpPr>
        <p:spPr>
          <a:xfrm>
            <a:off x="270588" y="279918"/>
            <a:ext cx="11047445" cy="60928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AC7EB15B-3FFD-B357-826B-BEB037C68FAF}"/>
              </a:ext>
            </a:extLst>
          </p:cNvPr>
          <p:cNvSpPr txBox="1"/>
          <p:nvPr/>
        </p:nvSpPr>
        <p:spPr>
          <a:xfrm>
            <a:off x="270588" y="373224"/>
            <a:ext cx="11355355" cy="5878532"/>
          </a:xfrm>
          <a:prstGeom prst="rect">
            <a:avLst/>
          </a:prstGeom>
          <a:noFill/>
        </p:spPr>
        <p:txBody>
          <a:bodyPr wrap="square" rtlCol="0">
            <a:spAutoFit/>
          </a:bodyPr>
          <a:lstStyle/>
          <a:p>
            <a:r>
              <a:rPr lang="en-US" sz="3200" b="1" dirty="0"/>
              <a:t>3. Angular Architecture</a:t>
            </a:r>
          </a:p>
          <a:p>
            <a:endParaRPr lang="en-US" sz="3200" b="1" dirty="0"/>
          </a:p>
          <a:p>
            <a:r>
              <a:rPr lang="en-US" sz="2400" b="1" u="sng" dirty="0"/>
              <a:t>Main building blocks:</a:t>
            </a:r>
          </a:p>
          <a:p>
            <a:pPr lvl="2"/>
            <a:endParaRPr lang="en-US" sz="2400" b="1" dirty="0"/>
          </a:p>
          <a:p>
            <a:pPr marL="1257300" lvl="2" indent="-342900">
              <a:buFont typeface="Wingdings" panose="05000000000000000000" pitchFamily="2" charset="2"/>
              <a:buChar char="ü"/>
            </a:pPr>
            <a:r>
              <a:rPr lang="en-US" sz="2400" b="1" dirty="0"/>
              <a:t>Modules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Components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Templates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Services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Directives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Pipes</a:t>
            </a:r>
          </a:p>
        </p:txBody>
      </p:sp>
    </p:spTree>
    <p:extLst>
      <p:ext uri="{BB962C8B-B14F-4D97-AF65-F5344CB8AC3E}">
        <p14:creationId xmlns:p14="http://schemas.microsoft.com/office/powerpoint/2010/main" val="1769503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19ACFB-7159-B84E-0DAB-666C9CCE96D8}"/>
              </a:ext>
            </a:extLst>
          </p:cNvPr>
          <p:cNvSpPr/>
          <p:nvPr/>
        </p:nvSpPr>
        <p:spPr>
          <a:xfrm>
            <a:off x="270589" y="279918"/>
            <a:ext cx="5566008" cy="53037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F63B71DC-7156-F2DB-C709-940AFB0CFAA1}"/>
              </a:ext>
            </a:extLst>
          </p:cNvPr>
          <p:cNvSpPr txBox="1"/>
          <p:nvPr/>
        </p:nvSpPr>
        <p:spPr>
          <a:xfrm>
            <a:off x="270589" y="373224"/>
            <a:ext cx="5721142" cy="3785652"/>
          </a:xfrm>
          <a:prstGeom prst="rect">
            <a:avLst/>
          </a:prstGeom>
          <a:noFill/>
        </p:spPr>
        <p:txBody>
          <a:bodyPr wrap="square" rtlCol="0">
            <a:spAutoFit/>
          </a:bodyPr>
          <a:lstStyle/>
          <a:p>
            <a:r>
              <a:rPr lang="en-US" sz="3200" b="1" dirty="0"/>
              <a:t>4. Modules</a:t>
            </a:r>
          </a:p>
          <a:p>
            <a:endParaRPr lang="en-US" sz="3200" b="1" dirty="0"/>
          </a:p>
          <a:p>
            <a:endParaRPr lang="en-US" sz="3200" b="1" dirty="0"/>
          </a:p>
          <a:p>
            <a:r>
              <a:rPr lang="en-US" sz="2400" b="1" u="sng" dirty="0"/>
              <a:t>Main building blocks:</a:t>
            </a:r>
          </a:p>
          <a:p>
            <a:pPr marL="342900" indent="-342900">
              <a:buFont typeface="Wingdings" panose="05000000000000000000" pitchFamily="2" charset="2"/>
              <a:buChar char="ü"/>
            </a:pPr>
            <a:r>
              <a:rPr lang="en-US" sz="2400" b="1" dirty="0"/>
              <a:t>Root module is called </a:t>
            </a:r>
            <a:r>
              <a:rPr lang="en-US" sz="2400" b="1" dirty="0" err="1"/>
              <a:t>AppModule</a:t>
            </a:r>
            <a:endParaRPr lang="en-US" sz="2400" b="1" dirty="0"/>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Decorated with @NgModule</a:t>
            </a:r>
          </a:p>
          <a:p>
            <a:endParaRPr lang="en-US" sz="2400" b="1" dirty="0"/>
          </a:p>
          <a:p>
            <a:pPr marL="342900" indent="-342900">
              <a:buFont typeface="Wingdings" panose="05000000000000000000" pitchFamily="2" charset="2"/>
              <a:buChar char="ü"/>
            </a:pPr>
            <a:r>
              <a:rPr lang="en-US" sz="2400" b="1" dirty="0"/>
              <a:t>Organizes application into logical blocks</a:t>
            </a:r>
          </a:p>
        </p:txBody>
      </p:sp>
      <p:sp>
        <p:nvSpPr>
          <p:cNvPr id="4" name="Rectangle 3">
            <a:extLst>
              <a:ext uri="{FF2B5EF4-FFF2-40B4-BE49-F238E27FC236}">
                <a16:creationId xmlns:a16="http://schemas.microsoft.com/office/drawing/2014/main" id="{DBCEB44D-71F7-D800-2D26-19C4FE94342E}"/>
              </a:ext>
            </a:extLst>
          </p:cNvPr>
          <p:cNvSpPr/>
          <p:nvPr/>
        </p:nvSpPr>
        <p:spPr>
          <a:xfrm>
            <a:off x="6096000" y="279918"/>
            <a:ext cx="5721142" cy="53037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2A1253F-7EEB-583C-416F-1E4E17BFDB9E}"/>
              </a:ext>
            </a:extLst>
          </p:cNvPr>
          <p:cNvSpPr txBox="1"/>
          <p:nvPr/>
        </p:nvSpPr>
        <p:spPr>
          <a:xfrm>
            <a:off x="6096000" y="373224"/>
            <a:ext cx="5880600" cy="4401205"/>
          </a:xfrm>
          <a:prstGeom prst="rect">
            <a:avLst/>
          </a:prstGeom>
          <a:noFill/>
        </p:spPr>
        <p:txBody>
          <a:bodyPr wrap="square" rtlCol="0">
            <a:spAutoFit/>
          </a:bodyPr>
          <a:lstStyle/>
          <a:p>
            <a:r>
              <a:rPr lang="en-US" sz="3200" b="1" dirty="0"/>
              <a:t>5. Components</a:t>
            </a:r>
          </a:p>
          <a:p>
            <a:endParaRPr lang="en-US" sz="3200" b="1" dirty="0"/>
          </a:p>
          <a:p>
            <a:r>
              <a:rPr lang="en-US" sz="2400" b="1" u="sng" dirty="0"/>
              <a:t>Main building blocks:</a:t>
            </a:r>
          </a:p>
          <a:p>
            <a:endParaRPr lang="en-US" sz="2400" b="1" u="sng" dirty="0"/>
          </a:p>
          <a:p>
            <a:r>
              <a:rPr lang="en-US" sz="2400" b="1" dirty="0"/>
              <a:t>HTML (Template),  CSS (Styles), </a:t>
            </a:r>
          </a:p>
          <a:p>
            <a:r>
              <a:rPr lang="en-US" sz="2400" b="1" dirty="0"/>
              <a:t>TypeScript (Logic)</a:t>
            </a:r>
          </a:p>
          <a:p>
            <a:endParaRPr lang="en-US" sz="2400" b="1" dirty="0"/>
          </a:p>
          <a:p>
            <a:r>
              <a:rPr lang="en-US" sz="2400" b="1" dirty="0"/>
              <a:t>Component Decorator:</a:t>
            </a:r>
          </a:p>
          <a:p>
            <a:endParaRPr lang="en-US" sz="2400" b="1" dirty="0"/>
          </a:p>
          <a:p>
            <a:r>
              <a:rPr lang="en-US" sz="2400" b="1" dirty="0"/>
              <a:t>Selector , </a:t>
            </a:r>
            <a:r>
              <a:rPr lang="en-US" sz="2400" b="1" dirty="0" err="1"/>
              <a:t>templateUrl</a:t>
            </a:r>
            <a:r>
              <a:rPr lang="en-US" sz="2400" b="1" dirty="0"/>
              <a:t>  ,</a:t>
            </a:r>
            <a:r>
              <a:rPr lang="en-US" sz="2400" b="1" dirty="0" err="1"/>
              <a:t>styleUrls</a:t>
            </a:r>
            <a:endParaRPr lang="en-US" sz="2400" b="1" dirty="0"/>
          </a:p>
          <a:p>
            <a:endParaRPr lang="en-US" sz="2400" b="1" u="sng" dirty="0"/>
          </a:p>
        </p:txBody>
      </p:sp>
    </p:spTree>
    <p:extLst>
      <p:ext uri="{BB962C8B-B14F-4D97-AF65-F5344CB8AC3E}">
        <p14:creationId xmlns:p14="http://schemas.microsoft.com/office/powerpoint/2010/main" val="2760056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B94C98-A03E-66C0-467D-FA4E7BA5595B}"/>
              </a:ext>
            </a:extLst>
          </p:cNvPr>
          <p:cNvSpPr/>
          <p:nvPr/>
        </p:nvSpPr>
        <p:spPr>
          <a:xfrm>
            <a:off x="270589" y="279918"/>
            <a:ext cx="9943454" cy="56734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F64EFE4B-B1A0-8B8B-5F7F-E0944F8262F2}"/>
              </a:ext>
            </a:extLst>
          </p:cNvPr>
          <p:cNvSpPr txBox="1"/>
          <p:nvPr/>
        </p:nvSpPr>
        <p:spPr>
          <a:xfrm>
            <a:off x="270589" y="373224"/>
            <a:ext cx="5721142" cy="4401205"/>
          </a:xfrm>
          <a:prstGeom prst="rect">
            <a:avLst/>
          </a:prstGeom>
          <a:noFill/>
        </p:spPr>
        <p:txBody>
          <a:bodyPr wrap="square" rtlCol="0">
            <a:spAutoFit/>
          </a:bodyPr>
          <a:lstStyle/>
          <a:p>
            <a:r>
              <a:rPr lang="en-US" sz="3200" b="1" dirty="0"/>
              <a:t>6. Templates</a:t>
            </a:r>
          </a:p>
          <a:p>
            <a:endParaRPr lang="en-US" sz="3200" b="1" dirty="0"/>
          </a:p>
          <a:p>
            <a:r>
              <a:rPr lang="en-US" sz="2400" b="1" u="sng" dirty="0"/>
              <a:t>Main building blocks:</a:t>
            </a:r>
          </a:p>
          <a:p>
            <a:pPr lvl="2"/>
            <a:endParaRPr lang="en-US" sz="2400" b="1" dirty="0"/>
          </a:p>
          <a:p>
            <a:pPr marL="1257300" lvl="2" indent="-342900">
              <a:buFont typeface="Wingdings" panose="05000000000000000000" pitchFamily="2" charset="2"/>
              <a:buChar char="ü"/>
            </a:pPr>
            <a:r>
              <a:rPr lang="en-US" sz="2400" b="1" dirty="0"/>
              <a:t>Written using HTML</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Supports Angular expressions</a:t>
            </a:r>
          </a:p>
          <a:p>
            <a:pPr marL="1257300" lvl="2" indent="-342900">
              <a:buFont typeface="Wingdings" panose="05000000000000000000" pitchFamily="2" charset="2"/>
              <a:buChar char="ü"/>
            </a:pPr>
            <a:endParaRPr lang="en-US" sz="2400" b="1" dirty="0"/>
          </a:p>
          <a:p>
            <a:pPr marL="1257300" lvl="2" indent="-342900">
              <a:buFont typeface="Wingdings" panose="05000000000000000000" pitchFamily="2" charset="2"/>
              <a:buChar char="ü"/>
            </a:pPr>
            <a:r>
              <a:rPr lang="en-US" sz="2400" b="1" dirty="0"/>
              <a:t>Used for displaying data</a:t>
            </a:r>
          </a:p>
          <a:p>
            <a:pPr lvl="2"/>
            <a:r>
              <a:rPr lang="en-US" sz="2400" b="1" dirty="0"/>
              <a:t>     Example:</a:t>
            </a:r>
          </a:p>
          <a:p>
            <a:pPr lvl="2"/>
            <a:r>
              <a:rPr lang="en-US" sz="2400" b="1" dirty="0"/>
              <a:t>      {{ title }}</a:t>
            </a:r>
          </a:p>
        </p:txBody>
      </p:sp>
    </p:spTree>
    <p:extLst>
      <p:ext uri="{BB962C8B-B14F-4D97-AF65-F5344CB8AC3E}">
        <p14:creationId xmlns:p14="http://schemas.microsoft.com/office/powerpoint/2010/main" val="1307650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A25984-5CB0-2112-AC3F-11D6FA728817}"/>
              </a:ext>
            </a:extLst>
          </p:cNvPr>
          <p:cNvSpPr/>
          <p:nvPr/>
        </p:nvSpPr>
        <p:spPr>
          <a:xfrm>
            <a:off x="270589" y="279918"/>
            <a:ext cx="5566008"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CF0FCDFF-F8AF-FA08-B5C8-0F91B1319E25}"/>
              </a:ext>
            </a:extLst>
          </p:cNvPr>
          <p:cNvSpPr txBox="1"/>
          <p:nvPr/>
        </p:nvSpPr>
        <p:spPr>
          <a:xfrm>
            <a:off x="270589" y="373224"/>
            <a:ext cx="5721142" cy="5386090"/>
          </a:xfrm>
          <a:prstGeom prst="rect">
            <a:avLst/>
          </a:prstGeom>
          <a:noFill/>
        </p:spPr>
        <p:txBody>
          <a:bodyPr wrap="square" rtlCol="0">
            <a:spAutoFit/>
          </a:bodyPr>
          <a:lstStyle/>
          <a:p>
            <a:r>
              <a:rPr lang="en-US" sz="3200" b="1" dirty="0"/>
              <a:t>7. Data Binding</a:t>
            </a:r>
          </a:p>
          <a:p>
            <a:endParaRPr lang="en-US" sz="2400" dirty="0"/>
          </a:p>
          <a:p>
            <a:r>
              <a:rPr lang="en-US" sz="2400" dirty="0"/>
              <a:t>Data binding connects component and template.</a:t>
            </a:r>
          </a:p>
          <a:p>
            <a:endParaRPr lang="en-US" sz="2400" dirty="0"/>
          </a:p>
          <a:p>
            <a:r>
              <a:rPr lang="en-US" sz="2400" dirty="0"/>
              <a:t>Types:</a:t>
            </a:r>
          </a:p>
          <a:p>
            <a:endParaRPr lang="en-US" sz="2400" dirty="0"/>
          </a:p>
          <a:p>
            <a:pPr marL="342900" indent="-342900">
              <a:buFont typeface="Wingdings" panose="05000000000000000000" pitchFamily="2" charset="2"/>
              <a:buChar char="ü"/>
            </a:pPr>
            <a:r>
              <a:rPr lang="en-US" sz="2400" dirty="0"/>
              <a:t>Interpolation</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Property Binding</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Event Binding</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Two-way Data Binding</a:t>
            </a:r>
          </a:p>
        </p:txBody>
      </p:sp>
      <p:sp>
        <p:nvSpPr>
          <p:cNvPr id="4" name="Rectangle 3">
            <a:extLst>
              <a:ext uri="{FF2B5EF4-FFF2-40B4-BE49-F238E27FC236}">
                <a16:creationId xmlns:a16="http://schemas.microsoft.com/office/drawing/2014/main" id="{F1585950-7789-CADA-0A03-AB815BA335F6}"/>
              </a:ext>
            </a:extLst>
          </p:cNvPr>
          <p:cNvSpPr/>
          <p:nvPr/>
        </p:nvSpPr>
        <p:spPr>
          <a:xfrm>
            <a:off x="6096000" y="279918"/>
            <a:ext cx="5721142"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6121DD5-5FB7-7643-09BF-5ED0FD0A27EF}"/>
              </a:ext>
            </a:extLst>
          </p:cNvPr>
          <p:cNvSpPr txBox="1"/>
          <p:nvPr/>
        </p:nvSpPr>
        <p:spPr>
          <a:xfrm>
            <a:off x="6096000" y="373224"/>
            <a:ext cx="5880600" cy="5878532"/>
          </a:xfrm>
          <a:prstGeom prst="rect">
            <a:avLst/>
          </a:prstGeom>
          <a:noFill/>
        </p:spPr>
        <p:txBody>
          <a:bodyPr wrap="square" rtlCol="0">
            <a:spAutoFit/>
          </a:bodyPr>
          <a:lstStyle/>
          <a:p>
            <a:r>
              <a:rPr lang="en-US" sz="3200" b="1" dirty="0"/>
              <a:t>8. Directives</a:t>
            </a:r>
          </a:p>
          <a:p>
            <a:endParaRPr lang="en-US" sz="3200" b="1" dirty="0"/>
          </a:p>
          <a:p>
            <a:r>
              <a:rPr lang="en-US" sz="2400" b="1" dirty="0"/>
              <a:t>Directives modify DOM behavior.</a:t>
            </a:r>
          </a:p>
          <a:p>
            <a:endParaRPr lang="en-US" sz="2400" u="sng" dirty="0"/>
          </a:p>
          <a:p>
            <a:r>
              <a:rPr lang="en-US" sz="2400" u="sng" dirty="0"/>
              <a:t>Types of Directives:</a:t>
            </a:r>
          </a:p>
          <a:p>
            <a:endParaRPr lang="en-US" sz="2400" dirty="0"/>
          </a:p>
          <a:p>
            <a:pPr marL="342900" indent="-342900">
              <a:buFont typeface="Wingdings" panose="05000000000000000000" pitchFamily="2" charset="2"/>
              <a:buChar char="ü"/>
            </a:pPr>
            <a:r>
              <a:rPr lang="en-US" sz="2400" dirty="0"/>
              <a:t>Structural Directives </a:t>
            </a:r>
          </a:p>
          <a:p>
            <a:r>
              <a:rPr lang="en-US" sz="2400" dirty="0"/>
              <a:t>          *</a:t>
            </a:r>
            <a:r>
              <a:rPr lang="en-US" sz="2400" dirty="0" err="1"/>
              <a:t>ngIf</a:t>
            </a:r>
            <a:r>
              <a:rPr lang="en-US" sz="2400" dirty="0"/>
              <a:t>, *</a:t>
            </a:r>
            <a:r>
              <a:rPr lang="en-US" sz="2400" dirty="0" err="1"/>
              <a:t>ngFor</a:t>
            </a:r>
            <a:r>
              <a:rPr lang="en-US" sz="2400" dirty="0"/>
              <a:t>, *</a:t>
            </a:r>
            <a:r>
              <a:rPr lang="en-US" sz="2400" dirty="0" err="1"/>
              <a:t>ngSwitch</a:t>
            </a:r>
            <a:endParaRPr lang="en-US" sz="2400" dirty="0"/>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Attribute Directives  </a:t>
            </a:r>
          </a:p>
          <a:p>
            <a:r>
              <a:rPr lang="en-US" sz="2400" dirty="0"/>
              <a:t>         </a:t>
            </a:r>
            <a:r>
              <a:rPr lang="en-US" sz="2400" dirty="0" err="1"/>
              <a:t>ngClass</a:t>
            </a:r>
            <a:r>
              <a:rPr lang="en-US" sz="2400" dirty="0"/>
              <a:t>, </a:t>
            </a:r>
            <a:r>
              <a:rPr lang="en-US" sz="2400" dirty="0" err="1"/>
              <a:t>ngStyle</a:t>
            </a:r>
            <a:endParaRPr lang="en-US" sz="2400" dirty="0"/>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Custom Directives</a:t>
            </a:r>
          </a:p>
          <a:p>
            <a:endParaRPr lang="en-US" sz="2400" dirty="0"/>
          </a:p>
          <a:p>
            <a:endParaRPr lang="en-US" sz="2400" b="1" u="sng" dirty="0"/>
          </a:p>
        </p:txBody>
      </p:sp>
    </p:spTree>
    <p:extLst>
      <p:ext uri="{BB962C8B-B14F-4D97-AF65-F5344CB8AC3E}">
        <p14:creationId xmlns:p14="http://schemas.microsoft.com/office/powerpoint/2010/main" val="1432454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F31784-A926-8632-0403-22FCAECDFB6D}"/>
              </a:ext>
            </a:extLst>
          </p:cNvPr>
          <p:cNvSpPr/>
          <p:nvPr/>
        </p:nvSpPr>
        <p:spPr>
          <a:xfrm>
            <a:off x="270589" y="279918"/>
            <a:ext cx="5566008"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B6849EC1-EA16-9423-5F03-5EA129ACE514}"/>
              </a:ext>
            </a:extLst>
          </p:cNvPr>
          <p:cNvSpPr txBox="1"/>
          <p:nvPr/>
        </p:nvSpPr>
        <p:spPr>
          <a:xfrm>
            <a:off x="270589" y="373224"/>
            <a:ext cx="5721142" cy="2800767"/>
          </a:xfrm>
          <a:prstGeom prst="rect">
            <a:avLst/>
          </a:prstGeom>
          <a:noFill/>
        </p:spPr>
        <p:txBody>
          <a:bodyPr wrap="square" rtlCol="0">
            <a:spAutoFit/>
          </a:bodyPr>
          <a:lstStyle/>
          <a:p>
            <a:r>
              <a:rPr lang="en-US" sz="3200" b="1" dirty="0"/>
              <a:t>9. Services</a:t>
            </a:r>
          </a:p>
          <a:p>
            <a:endParaRPr lang="en-US" sz="2400" dirty="0"/>
          </a:p>
          <a:p>
            <a:pPr marL="342900" indent="-342900">
              <a:buFont typeface="Wingdings" panose="05000000000000000000" pitchFamily="2" charset="2"/>
              <a:buChar char="ü"/>
            </a:pPr>
            <a:r>
              <a:rPr lang="en-US" sz="2400" dirty="0"/>
              <a:t>Used to store business logic</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Helps in code reusability</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Created using @Injectable()</a:t>
            </a:r>
          </a:p>
        </p:txBody>
      </p:sp>
      <p:sp>
        <p:nvSpPr>
          <p:cNvPr id="4" name="Rectangle 3">
            <a:extLst>
              <a:ext uri="{FF2B5EF4-FFF2-40B4-BE49-F238E27FC236}">
                <a16:creationId xmlns:a16="http://schemas.microsoft.com/office/drawing/2014/main" id="{5A50D05F-31CA-74FB-BC9C-C4730FAA55A4}"/>
              </a:ext>
            </a:extLst>
          </p:cNvPr>
          <p:cNvSpPr/>
          <p:nvPr/>
        </p:nvSpPr>
        <p:spPr>
          <a:xfrm>
            <a:off x="6096000" y="279918"/>
            <a:ext cx="5721142"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90F8A8C-71CF-EAEE-D4CB-2FD890312228}"/>
              </a:ext>
            </a:extLst>
          </p:cNvPr>
          <p:cNvSpPr txBox="1"/>
          <p:nvPr/>
        </p:nvSpPr>
        <p:spPr>
          <a:xfrm>
            <a:off x="6096000" y="373224"/>
            <a:ext cx="5880600" cy="3293209"/>
          </a:xfrm>
          <a:prstGeom prst="rect">
            <a:avLst/>
          </a:prstGeom>
          <a:noFill/>
        </p:spPr>
        <p:txBody>
          <a:bodyPr wrap="square" rtlCol="0">
            <a:spAutoFit/>
          </a:bodyPr>
          <a:lstStyle/>
          <a:p>
            <a:r>
              <a:rPr lang="en-US" sz="3200" b="1" dirty="0"/>
              <a:t>10. Dependency Injection</a:t>
            </a:r>
          </a:p>
          <a:p>
            <a:pPr marL="457200" indent="-457200">
              <a:buFont typeface="Wingdings" panose="05000000000000000000" pitchFamily="2" charset="2"/>
              <a:buChar char="ü"/>
            </a:pPr>
            <a:endParaRPr lang="en-US" sz="3200" b="1" dirty="0"/>
          </a:p>
          <a:p>
            <a:pPr marL="342900" indent="-342900">
              <a:buFont typeface="Wingdings" panose="05000000000000000000" pitchFamily="2" charset="2"/>
              <a:buChar char="ü"/>
            </a:pPr>
            <a:r>
              <a:rPr lang="en-US" sz="2400" dirty="0"/>
              <a:t>Design pattern used by Angular</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Injects services into components</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Promotes loose coupling</a:t>
            </a:r>
          </a:p>
          <a:p>
            <a:endParaRPr lang="en-US" sz="2400" b="1" u="sng" dirty="0"/>
          </a:p>
        </p:txBody>
      </p:sp>
    </p:spTree>
    <p:extLst>
      <p:ext uri="{BB962C8B-B14F-4D97-AF65-F5344CB8AC3E}">
        <p14:creationId xmlns:p14="http://schemas.microsoft.com/office/powerpoint/2010/main" val="44574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73F420-172E-88CF-9D3B-E979ABC0857B}"/>
              </a:ext>
            </a:extLst>
          </p:cNvPr>
          <p:cNvSpPr/>
          <p:nvPr/>
        </p:nvSpPr>
        <p:spPr>
          <a:xfrm>
            <a:off x="270589" y="279918"/>
            <a:ext cx="5566008"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6A7C3A3D-89E9-4685-A4AF-1D3C052D6821}"/>
              </a:ext>
            </a:extLst>
          </p:cNvPr>
          <p:cNvSpPr txBox="1"/>
          <p:nvPr/>
        </p:nvSpPr>
        <p:spPr>
          <a:xfrm>
            <a:off x="270589" y="373224"/>
            <a:ext cx="5721142" cy="5878532"/>
          </a:xfrm>
          <a:prstGeom prst="rect">
            <a:avLst/>
          </a:prstGeom>
          <a:noFill/>
        </p:spPr>
        <p:txBody>
          <a:bodyPr wrap="square" rtlCol="0">
            <a:spAutoFit/>
          </a:bodyPr>
          <a:lstStyle/>
          <a:p>
            <a:r>
              <a:rPr lang="en-US" sz="3200" b="1" dirty="0"/>
              <a:t>11. Routing</a:t>
            </a:r>
          </a:p>
          <a:p>
            <a:r>
              <a:rPr lang="en-US" sz="2400" dirty="0"/>
              <a:t>Enables navigation without page reload</a:t>
            </a:r>
          </a:p>
          <a:p>
            <a:endParaRPr lang="en-US" sz="2400" dirty="0"/>
          </a:p>
          <a:p>
            <a:r>
              <a:rPr lang="en-US" sz="2400" dirty="0"/>
              <a:t>Uses </a:t>
            </a:r>
            <a:r>
              <a:rPr lang="en-US" sz="2400" dirty="0" err="1"/>
              <a:t>RouterModule</a:t>
            </a:r>
            <a:endParaRPr lang="en-US" sz="2400" dirty="0"/>
          </a:p>
          <a:p>
            <a:endParaRPr lang="en-US" sz="2400" dirty="0"/>
          </a:p>
          <a:p>
            <a:r>
              <a:rPr lang="en-US" sz="2400" dirty="0"/>
              <a:t>&lt;router-outlet&gt; displays routed component</a:t>
            </a:r>
          </a:p>
          <a:p>
            <a:endParaRPr lang="en-US" sz="2400" dirty="0"/>
          </a:p>
          <a:p>
            <a:r>
              <a:rPr lang="en-US" sz="2400" dirty="0"/>
              <a:t>Routing Features:</a:t>
            </a:r>
          </a:p>
          <a:p>
            <a:endParaRPr lang="en-US" sz="2400" dirty="0"/>
          </a:p>
          <a:p>
            <a:pPr marL="342900" indent="-342900">
              <a:buFont typeface="Wingdings" panose="05000000000000000000" pitchFamily="2" charset="2"/>
              <a:buChar char="ü"/>
            </a:pPr>
            <a:r>
              <a:rPr lang="en-US" sz="2400" dirty="0"/>
              <a:t>Lazy loading</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Route guards</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Route parameters</a:t>
            </a:r>
          </a:p>
          <a:p>
            <a:endParaRPr lang="en-US" sz="3200" b="1" dirty="0"/>
          </a:p>
        </p:txBody>
      </p:sp>
      <p:sp>
        <p:nvSpPr>
          <p:cNvPr id="4" name="Rectangle 3">
            <a:extLst>
              <a:ext uri="{FF2B5EF4-FFF2-40B4-BE49-F238E27FC236}">
                <a16:creationId xmlns:a16="http://schemas.microsoft.com/office/drawing/2014/main" id="{3BC68CCB-6974-1CE4-0AF5-E7B1064EC362}"/>
              </a:ext>
            </a:extLst>
          </p:cNvPr>
          <p:cNvSpPr/>
          <p:nvPr/>
        </p:nvSpPr>
        <p:spPr>
          <a:xfrm>
            <a:off x="6096000" y="279918"/>
            <a:ext cx="5721142"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17409EE-12C4-BC37-13ED-C1A1D0D523F2}"/>
              </a:ext>
            </a:extLst>
          </p:cNvPr>
          <p:cNvSpPr txBox="1"/>
          <p:nvPr/>
        </p:nvSpPr>
        <p:spPr>
          <a:xfrm>
            <a:off x="6096000" y="373224"/>
            <a:ext cx="5880600" cy="6124754"/>
          </a:xfrm>
          <a:prstGeom prst="rect">
            <a:avLst/>
          </a:prstGeom>
          <a:noFill/>
        </p:spPr>
        <p:txBody>
          <a:bodyPr wrap="square" rtlCol="0">
            <a:spAutoFit/>
          </a:bodyPr>
          <a:lstStyle/>
          <a:p>
            <a:r>
              <a:rPr lang="en-US" sz="3200" b="1" dirty="0"/>
              <a:t>12. Angular Forms</a:t>
            </a:r>
          </a:p>
          <a:p>
            <a:endParaRPr lang="en-US" sz="2400" b="1" u="sng" dirty="0"/>
          </a:p>
          <a:p>
            <a:r>
              <a:rPr lang="en-US" sz="2400" dirty="0"/>
              <a:t>Types of Forms:</a:t>
            </a:r>
          </a:p>
          <a:p>
            <a:r>
              <a:rPr lang="en-US" sz="2400" dirty="0"/>
              <a:t>a) Template-Driven Forms</a:t>
            </a:r>
          </a:p>
          <a:p>
            <a:pPr marL="800100" lvl="1" indent="-342900">
              <a:buFont typeface="Wingdings" panose="05000000000000000000" pitchFamily="2" charset="2"/>
              <a:buChar char="ü"/>
            </a:pPr>
            <a:r>
              <a:rPr lang="en-US" sz="2400" dirty="0"/>
              <a:t>Easy to use</a:t>
            </a:r>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Uses </a:t>
            </a:r>
            <a:r>
              <a:rPr lang="en-US" sz="2400" dirty="0" err="1"/>
              <a:t>ngModel</a:t>
            </a:r>
            <a:endParaRPr lang="en-US" sz="2400" dirty="0"/>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Less control</a:t>
            </a:r>
          </a:p>
          <a:p>
            <a:r>
              <a:rPr lang="en-US" sz="2400" dirty="0"/>
              <a:t>b) Reactive Forms</a:t>
            </a:r>
          </a:p>
          <a:p>
            <a:pPr marL="800100" lvl="1" indent="-342900">
              <a:buFont typeface="Wingdings" panose="05000000000000000000" pitchFamily="2" charset="2"/>
              <a:buChar char="ü"/>
            </a:pPr>
            <a:r>
              <a:rPr lang="en-US" sz="2400" dirty="0"/>
              <a:t>More powerful</a:t>
            </a:r>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Uses </a:t>
            </a:r>
            <a:r>
              <a:rPr lang="en-US" sz="2400" dirty="0" err="1"/>
              <a:t>FormGroup</a:t>
            </a:r>
            <a:r>
              <a:rPr lang="en-US" sz="2400" dirty="0"/>
              <a:t>, </a:t>
            </a:r>
            <a:r>
              <a:rPr lang="en-US" sz="2400" dirty="0" err="1"/>
              <a:t>FormControl</a:t>
            </a:r>
            <a:endParaRPr lang="en-US" sz="2400" dirty="0"/>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Better validation</a:t>
            </a:r>
          </a:p>
          <a:p>
            <a:endParaRPr lang="en-US" sz="2400" b="1" u="sng" dirty="0"/>
          </a:p>
        </p:txBody>
      </p:sp>
    </p:spTree>
    <p:extLst>
      <p:ext uri="{BB962C8B-B14F-4D97-AF65-F5344CB8AC3E}">
        <p14:creationId xmlns:p14="http://schemas.microsoft.com/office/powerpoint/2010/main" val="354836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DFC406-59E8-BC05-71A8-98DE43A88759}"/>
              </a:ext>
            </a:extLst>
          </p:cNvPr>
          <p:cNvSpPr/>
          <p:nvPr/>
        </p:nvSpPr>
        <p:spPr>
          <a:xfrm>
            <a:off x="270589" y="279917"/>
            <a:ext cx="5566008" cy="60089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9890AEAB-B3DA-3531-03BD-770200BAECDA}"/>
              </a:ext>
            </a:extLst>
          </p:cNvPr>
          <p:cNvSpPr txBox="1"/>
          <p:nvPr/>
        </p:nvSpPr>
        <p:spPr>
          <a:xfrm>
            <a:off x="270589" y="373224"/>
            <a:ext cx="5721142" cy="6617196"/>
          </a:xfrm>
          <a:prstGeom prst="rect">
            <a:avLst/>
          </a:prstGeom>
          <a:noFill/>
        </p:spPr>
        <p:txBody>
          <a:bodyPr wrap="square" rtlCol="0">
            <a:spAutoFit/>
          </a:bodyPr>
          <a:lstStyle/>
          <a:p>
            <a:r>
              <a:rPr lang="en-US" sz="3200" b="1" dirty="0"/>
              <a:t>13. Pipes</a:t>
            </a:r>
          </a:p>
          <a:p>
            <a:r>
              <a:rPr lang="en-US" sz="2000" dirty="0"/>
              <a:t>Used to transform data in templates</a:t>
            </a:r>
          </a:p>
          <a:p>
            <a:endParaRPr lang="en-US" sz="2000" dirty="0"/>
          </a:p>
          <a:p>
            <a:r>
              <a:rPr lang="en-US" sz="2000" dirty="0"/>
              <a:t>Built-in Pipes:</a:t>
            </a:r>
          </a:p>
          <a:p>
            <a:endParaRPr lang="en-US" sz="2000" dirty="0"/>
          </a:p>
          <a:p>
            <a:r>
              <a:rPr lang="en-US" sz="2000" dirty="0"/>
              <a:t>Date</a:t>
            </a:r>
          </a:p>
          <a:p>
            <a:endParaRPr lang="en-US" sz="2000" dirty="0"/>
          </a:p>
          <a:p>
            <a:r>
              <a:rPr lang="en-US" sz="2000" dirty="0"/>
              <a:t>Uppercase</a:t>
            </a:r>
          </a:p>
          <a:p>
            <a:endParaRPr lang="en-US" sz="2000" dirty="0"/>
          </a:p>
          <a:p>
            <a:r>
              <a:rPr lang="en-US" sz="2000" dirty="0"/>
              <a:t>Lowercase</a:t>
            </a:r>
          </a:p>
          <a:p>
            <a:endParaRPr lang="en-US" sz="2000" dirty="0"/>
          </a:p>
          <a:p>
            <a:r>
              <a:rPr lang="en-US" sz="2000" dirty="0"/>
              <a:t>Currency</a:t>
            </a:r>
          </a:p>
          <a:p>
            <a:endParaRPr lang="en-US" sz="2000" dirty="0"/>
          </a:p>
          <a:p>
            <a:r>
              <a:rPr lang="en-US" sz="2000" dirty="0"/>
              <a:t>Percent</a:t>
            </a:r>
          </a:p>
          <a:p>
            <a:endParaRPr lang="en-US" sz="2000" dirty="0"/>
          </a:p>
          <a:p>
            <a:r>
              <a:rPr lang="en-US" sz="2000" dirty="0"/>
              <a:t>Custom Pipes:</a:t>
            </a:r>
          </a:p>
          <a:p>
            <a:endParaRPr lang="en-US" sz="2000" dirty="0"/>
          </a:p>
          <a:p>
            <a:r>
              <a:rPr lang="en-US" sz="2000" dirty="0"/>
              <a:t>Created using @Pipe</a:t>
            </a:r>
          </a:p>
          <a:p>
            <a:endParaRPr lang="en-US" sz="2000" dirty="0"/>
          </a:p>
          <a:p>
            <a:endParaRPr lang="en-US" sz="3200" b="1" dirty="0"/>
          </a:p>
        </p:txBody>
      </p:sp>
      <p:sp>
        <p:nvSpPr>
          <p:cNvPr id="4" name="Rectangle 3">
            <a:extLst>
              <a:ext uri="{FF2B5EF4-FFF2-40B4-BE49-F238E27FC236}">
                <a16:creationId xmlns:a16="http://schemas.microsoft.com/office/drawing/2014/main" id="{E2B7BCCA-A060-443B-AB75-189CF837F0E6}"/>
              </a:ext>
            </a:extLst>
          </p:cNvPr>
          <p:cNvSpPr/>
          <p:nvPr/>
        </p:nvSpPr>
        <p:spPr>
          <a:xfrm>
            <a:off x="6096000" y="279918"/>
            <a:ext cx="5721142"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6CA21793-D0E9-BCD5-61F5-428823B72D70}"/>
              </a:ext>
            </a:extLst>
          </p:cNvPr>
          <p:cNvSpPr txBox="1"/>
          <p:nvPr/>
        </p:nvSpPr>
        <p:spPr>
          <a:xfrm>
            <a:off x="6096000" y="373224"/>
            <a:ext cx="5880600" cy="5386090"/>
          </a:xfrm>
          <a:prstGeom prst="rect">
            <a:avLst/>
          </a:prstGeom>
          <a:noFill/>
        </p:spPr>
        <p:txBody>
          <a:bodyPr wrap="square" rtlCol="0">
            <a:spAutoFit/>
          </a:bodyPr>
          <a:lstStyle/>
          <a:p>
            <a:r>
              <a:rPr lang="en-US" sz="3200" b="1" dirty="0"/>
              <a:t>14. Lifecycle Hooks</a:t>
            </a:r>
          </a:p>
          <a:p>
            <a:endParaRPr lang="en-US" sz="2400" b="1" u="sng" dirty="0"/>
          </a:p>
          <a:p>
            <a:r>
              <a:rPr lang="en-US" sz="2400" dirty="0"/>
              <a:t>Methods called during component lifecycle.</a:t>
            </a:r>
          </a:p>
          <a:p>
            <a:endParaRPr lang="en-US" sz="2400" dirty="0"/>
          </a:p>
          <a:p>
            <a:r>
              <a:rPr lang="en-US" sz="2400" dirty="0"/>
              <a:t>Common hooks:</a:t>
            </a:r>
          </a:p>
          <a:p>
            <a:endParaRPr lang="en-US" sz="2400" dirty="0"/>
          </a:p>
          <a:p>
            <a:pPr marL="342900" indent="-342900">
              <a:buFont typeface="Wingdings" panose="05000000000000000000" pitchFamily="2" charset="2"/>
              <a:buChar char="ü"/>
            </a:pPr>
            <a:r>
              <a:rPr lang="en-US" sz="2400" dirty="0" err="1"/>
              <a:t>ngOnInit</a:t>
            </a:r>
            <a:endParaRPr lang="en-US" sz="2400" dirty="0"/>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err="1"/>
              <a:t>ngOnChanges</a:t>
            </a:r>
            <a:endParaRPr lang="en-US" sz="2400" dirty="0"/>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err="1"/>
              <a:t>ngOnDestroy</a:t>
            </a:r>
            <a:endParaRPr lang="en-US" sz="2400" dirty="0"/>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err="1"/>
              <a:t>ngAfterViewInit</a:t>
            </a:r>
            <a:endParaRPr lang="en-US" sz="2400" dirty="0"/>
          </a:p>
          <a:p>
            <a:pPr marL="342900" indent="-342900">
              <a:buFont typeface="Wingdings" panose="05000000000000000000" pitchFamily="2" charset="2"/>
              <a:buChar char="ü"/>
            </a:pPr>
            <a:endParaRPr lang="en-US" sz="2400" b="1" u="sng" dirty="0"/>
          </a:p>
        </p:txBody>
      </p:sp>
    </p:spTree>
    <p:extLst>
      <p:ext uri="{BB962C8B-B14F-4D97-AF65-F5344CB8AC3E}">
        <p14:creationId xmlns:p14="http://schemas.microsoft.com/office/powerpoint/2010/main" val="2503782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231368-EFA3-0092-8632-A8FEE3F096EB}"/>
              </a:ext>
            </a:extLst>
          </p:cNvPr>
          <p:cNvSpPr/>
          <p:nvPr/>
        </p:nvSpPr>
        <p:spPr>
          <a:xfrm>
            <a:off x="270589" y="279917"/>
            <a:ext cx="5566008" cy="43200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D3FEF355-32A4-6CFA-8E50-4D637DC48F58}"/>
              </a:ext>
            </a:extLst>
          </p:cNvPr>
          <p:cNvSpPr txBox="1"/>
          <p:nvPr/>
        </p:nvSpPr>
        <p:spPr>
          <a:xfrm>
            <a:off x="270589" y="373224"/>
            <a:ext cx="5721142" cy="3539430"/>
          </a:xfrm>
          <a:prstGeom prst="rect">
            <a:avLst/>
          </a:prstGeom>
          <a:noFill/>
        </p:spPr>
        <p:txBody>
          <a:bodyPr wrap="square" rtlCol="0">
            <a:spAutoFit/>
          </a:bodyPr>
          <a:lstStyle/>
          <a:p>
            <a:r>
              <a:rPr lang="en-US" sz="3200" b="1" dirty="0"/>
              <a:t>15. </a:t>
            </a:r>
            <a:r>
              <a:rPr lang="en-US" sz="3200" b="1" dirty="0" err="1"/>
              <a:t>RxJS</a:t>
            </a:r>
            <a:r>
              <a:rPr lang="en-US" sz="3200" b="1" dirty="0"/>
              <a:t> and Observables</a:t>
            </a:r>
          </a:p>
          <a:p>
            <a:endParaRPr lang="en-US" sz="2000" dirty="0"/>
          </a:p>
          <a:p>
            <a:endParaRPr lang="en-US" sz="2000" dirty="0"/>
          </a:p>
          <a:p>
            <a:pPr marL="342900" indent="-342900">
              <a:buFont typeface="Wingdings" panose="05000000000000000000" pitchFamily="2" charset="2"/>
              <a:buChar char="ü"/>
            </a:pPr>
            <a:r>
              <a:rPr lang="en-US" sz="2000" dirty="0"/>
              <a:t>Handles asynchronous operations</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Observables emit data over time</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Used in HTTP calls and events</a:t>
            </a:r>
          </a:p>
          <a:p>
            <a:endParaRPr lang="en-US" sz="2000" dirty="0"/>
          </a:p>
          <a:p>
            <a:endParaRPr lang="en-US" sz="3200" b="1" dirty="0"/>
          </a:p>
        </p:txBody>
      </p:sp>
      <p:sp>
        <p:nvSpPr>
          <p:cNvPr id="4" name="Rectangle 3">
            <a:extLst>
              <a:ext uri="{FF2B5EF4-FFF2-40B4-BE49-F238E27FC236}">
                <a16:creationId xmlns:a16="http://schemas.microsoft.com/office/drawing/2014/main" id="{0FB8D872-C160-3772-F900-96BF5D2E1878}"/>
              </a:ext>
            </a:extLst>
          </p:cNvPr>
          <p:cNvSpPr/>
          <p:nvPr/>
        </p:nvSpPr>
        <p:spPr>
          <a:xfrm>
            <a:off x="6096000" y="279918"/>
            <a:ext cx="5721142"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55B6420A-C3EA-A8B5-6DB8-F53491E0DBEB}"/>
              </a:ext>
            </a:extLst>
          </p:cNvPr>
          <p:cNvSpPr txBox="1"/>
          <p:nvPr/>
        </p:nvSpPr>
        <p:spPr>
          <a:xfrm>
            <a:off x="6096000" y="373224"/>
            <a:ext cx="5880600" cy="5755422"/>
          </a:xfrm>
          <a:prstGeom prst="rect">
            <a:avLst/>
          </a:prstGeom>
          <a:noFill/>
        </p:spPr>
        <p:txBody>
          <a:bodyPr wrap="square" rtlCol="0">
            <a:spAutoFit/>
          </a:bodyPr>
          <a:lstStyle/>
          <a:p>
            <a:r>
              <a:rPr lang="en-US" sz="3200" b="1" dirty="0"/>
              <a:t>16. HTTP Client</a:t>
            </a:r>
          </a:p>
          <a:p>
            <a:endParaRPr lang="en-US" sz="2400" b="1" u="sng" dirty="0"/>
          </a:p>
          <a:p>
            <a:r>
              <a:rPr lang="en-US" sz="2400" dirty="0"/>
              <a:t>Uses </a:t>
            </a:r>
            <a:r>
              <a:rPr lang="en-US" sz="2400" dirty="0" err="1"/>
              <a:t>HttpClientModule</a:t>
            </a:r>
            <a:endParaRPr lang="en-US" sz="2400" dirty="0"/>
          </a:p>
          <a:p>
            <a:r>
              <a:rPr lang="en-US" sz="2400" dirty="0"/>
              <a:t>Supports REST APIs</a:t>
            </a:r>
          </a:p>
          <a:p>
            <a:endParaRPr lang="en-US" sz="2400" dirty="0"/>
          </a:p>
          <a:p>
            <a:r>
              <a:rPr lang="en-US" sz="2400" dirty="0"/>
              <a:t>HTTP Methods:</a:t>
            </a:r>
          </a:p>
          <a:p>
            <a:endParaRPr lang="en-US" sz="2400" dirty="0"/>
          </a:p>
          <a:p>
            <a:pPr marL="800100" lvl="1" indent="-342900">
              <a:buFont typeface="Wingdings" panose="05000000000000000000" pitchFamily="2" charset="2"/>
              <a:buChar char="ü"/>
            </a:pPr>
            <a:r>
              <a:rPr lang="en-US" sz="2400" dirty="0"/>
              <a:t>GET</a:t>
            </a:r>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POST</a:t>
            </a:r>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PUT</a:t>
            </a:r>
          </a:p>
          <a:p>
            <a:pPr marL="800100" lvl="1" indent="-342900">
              <a:buFont typeface="Wingdings" panose="05000000000000000000" pitchFamily="2" charset="2"/>
              <a:buChar char="ü"/>
            </a:pPr>
            <a:endParaRPr lang="en-US" sz="2400" dirty="0"/>
          </a:p>
          <a:p>
            <a:pPr marL="800100" lvl="1" indent="-342900">
              <a:buFont typeface="Wingdings" panose="05000000000000000000" pitchFamily="2" charset="2"/>
              <a:buChar char="ü"/>
            </a:pPr>
            <a:r>
              <a:rPr lang="en-US" sz="2400" dirty="0"/>
              <a:t>DELETE</a:t>
            </a:r>
          </a:p>
          <a:p>
            <a:endParaRPr lang="en-US" sz="2400" b="1" u="sng" dirty="0"/>
          </a:p>
        </p:txBody>
      </p:sp>
    </p:spTree>
    <p:extLst>
      <p:ext uri="{BB962C8B-B14F-4D97-AF65-F5344CB8AC3E}">
        <p14:creationId xmlns:p14="http://schemas.microsoft.com/office/powerpoint/2010/main" val="74842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D7A99-7651-DA48-FAFD-15A2314D32AD}"/>
              </a:ext>
            </a:extLst>
          </p:cNvPr>
          <p:cNvSpPr/>
          <p:nvPr/>
        </p:nvSpPr>
        <p:spPr>
          <a:xfrm>
            <a:off x="270588" y="279917"/>
            <a:ext cx="5477069"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43A13C5D-12B7-EEC6-7B31-7F5B36AA2CF3}"/>
              </a:ext>
            </a:extLst>
          </p:cNvPr>
          <p:cNvSpPr txBox="1"/>
          <p:nvPr/>
        </p:nvSpPr>
        <p:spPr>
          <a:xfrm>
            <a:off x="270589" y="373224"/>
            <a:ext cx="5721142" cy="5386090"/>
          </a:xfrm>
          <a:prstGeom prst="rect">
            <a:avLst/>
          </a:prstGeom>
          <a:noFill/>
        </p:spPr>
        <p:txBody>
          <a:bodyPr wrap="square" rtlCol="0">
            <a:spAutoFit/>
          </a:bodyPr>
          <a:lstStyle/>
          <a:p>
            <a:r>
              <a:rPr lang="en-US" sz="3200" b="1" dirty="0"/>
              <a:t>17. Angular CLI</a:t>
            </a:r>
          </a:p>
          <a:p>
            <a:endParaRPr lang="en-US" sz="2000" dirty="0"/>
          </a:p>
          <a:p>
            <a:r>
              <a:rPr lang="en-US" sz="2000" dirty="0"/>
              <a:t>Command-line tool for Angular development.</a:t>
            </a:r>
          </a:p>
          <a:p>
            <a:endParaRPr lang="en-US" sz="2000" dirty="0"/>
          </a:p>
          <a:p>
            <a:r>
              <a:rPr lang="en-US" sz="2000" dirty="0"/>
              <a:t>Common Commands:</a:t>
            </a:r>
          </a:p>
          <a:p>
            <a:endParaRPr lang="en-US" sz="2000" dirty="0"/>
          </a:p>
          <a:p>
            <a:pPr marL="800100" lvl="1" indent="-342900">
              <a:buFont typeface="Wingdings" panose="05000000000000000000" pitchFamily="2" charset="2"/>
              <a:buChar char="ü"/>
            </a:pPr>
            <a:r>
              <a:rPr lang="en-US" sz="2000" dirty="0"/>
              <a:t>ng new</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ng serve</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ng generate</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ng build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ng test</a:t>
            </a:r>
          </a:p>
          <a:p>
            <a:endParaRPr lang="en-US" sz="3200" b="1" dirty="0"/>
          </a:p>
        </p:txBody>
      </p:sp>
      <p:sp>
        <p:nvSpPr>
          <p:cNvPr id="6" name="Oval 5">
            <a:extLst>
              <a:ext uri="{FF2B5EF4-FFF2-40B4-BE49-F238E27FC236}">
                <a16:creationId xmlns:a16="http://schemas.microsoft.com/office/drawing/2014/main" id="{37CD14A8-1196-43DB-FB07-E4C971FF86B3}"/>
              </a:ext>
            </a:extLst>
          </p:cNvPr>
          <p:cNvSpPr/>
          <p:nvPr/>
        </p:nvSpPr>
        <p:spPr>
          <a:xfrm>
            <a:off x="6599852" y="440865"/>
            <a:ext cx="5026090" cy="52624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u="sng" dirty="0"/>
              <a:t>Conclusion</a:t>
            </a:r>
          </a:p>
          <a:p>
            <a:pPr algn="ctr"/>
            <a:endParaRPr lang="en-US" dirty="0"/>
          </a:p>
          <a:p>
            <a:pPr algn="ctr"/>
            <a:r>
              <a:rPr lang="en-US" sz="2400" b="1" dirty="0"/>
              <a:t>Angular is a powerful framework suitable for large-scale, enterprise-level applications with structured development and long-term maintenance.</a:t>
            </a:r>
            <a:endParaRPr lang="en-IN" sz="2400" b="1" dirty="0"/>
          </a:p>
        </p:txBody>
      </p:sp>
    </p:spTree>
    <p:extLst>
      <p:ext uri="{BB962C8B-B14F-4D97-AF65-F5344CB8AC3E}">
        <p14:creationId xmlns:p14="http://schemas.microsoft.com/office/powerpoint/2010/main" val="424899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47E38D-39C1-2E6A-269C-09F8A2F6C879}"/>
              </a:ext>
            </a:extLst>
          </p:cNvPr>
          <p:cNvSpPr/>
          <p:nvPr/>
        </p:nvSpPr>
        <p:spPr>
          <a:xfrm>
            <a:off x="270588" y="279917"/>
            <a:ext cx="10954139" cy="57569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268F9266-3E61-7283-8B42-A49A7BFD57EC}"/>
              </a:ext>
            </a:extLst>
          </p:cNvPr>
          <p:cNvSpPr txBox="1"/>
          <p:nvPr/>
        </p:nvSpPr>
        <p:spPr>
          <a:xfrm>
            <a:off x="419878" y="419878"/>
            <a:ext cx="10049069" cy="1077218"/>
          </a:xfrm>
          <a:prstGeom prst="rect">
            <a:avLst/>
          </a:prstGeom>
          <a:noFill/>
        </p:spPr>
        <p:txBody>
          <a:bodyPr wrap="square" rtlCol="0">
            <a:spAutoFit/>
          </a:bodyPr>
          <a:lstStyle/>
          <a:p>
            <a:r>
              <a:rPr lang="en-US" sz="2800" b="1" dirty="0"/>
              <a:t>Steps to Install and Run the application</a:t>
            </a:r>
          </a:p>
          <a:p>
            <a:endParaRPr lang="en-IN" dirty="0"/>
          </a:p>
          <a:p>
            <a:endParaRPr lang="en-IN" dirty="0"/>
          </a:p>
        </p:txBody>
      </p:sp>
      <p:sp>
        <p:nvSpPr>
          <p:cNvPr id="4" name="Rectangle 3">
            <a:extLst>
              <a:ext uri="{FF2B5EF4-FFF2-40B4-BE49-F238E27FC236}">
                <a16:creationId xmlns:a16="http://schemas.microsoft.com/office/drawing/2014/main" id="{DA99909E-3BC1-340D-8C1F-85398619FEF7}"/>
              </a:ext>
            </a:extLst>
          </p:cNvPr>
          <p:cNvSpPr/>
          <p:nvPr/>
        </p:nvSpPr>
        <p:spPr>
          <a:xfrm>
            <a:off x="503854" y="1045029"/>
            <a:ext cx="3760236" cy="16328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5" name="TextBox 4">
            <a:extLst>
              <a:ext uri="{FF2B5EF4-FFF2-40B4-BE49-F238E27FC236}">
                <a16:creationId xmlns:a16="http://schemas.microsoft.com/office/drawing/2014/main" id="{F7D61A0A-7789-92BE-2451-91D0FBAE866E}"/>
              </a:ext>
            </a:extLst>
          </p:cNvPr>
          <p:cNvSpPr txBox="1"/>
          <p:nvPr/>
        </p:nvSpPr>
        <p:spPr>
          <a:xfrm>
            <a:off x="606490" y="1119673"/>
            <a:ext cx="4935894" cy="1477328"/>
          </a:xfrm>
          <a:prstGeom prst="rect">
            <a:avLst/>
          </a:prstGeom>
          <a:noFill/>
        </p:spPr>
        <p:txBody>
          <a:bodyPr wrap="square" rtlCol="0">
            <a:spAutoFit/>
          </a:bodyPr>
          <a:lstStyle/>
          <a:p>
            <a:r>
              <a:rPr lang="en-IN" b="1" u="sng" dirty="0"/>
              <a:t>a) Install Node.js</a:t>
            </a:r>
          </a:p>
          <a:p>
            <a:r>
              <a:rPr lang="en-IN" dirty="0"/>
              <a:t>Download and install Node.js</a:t>
            </a:r>
          </a:p>
          <a:p>
            <a:r>
              <a:rPr lang="en-IN" dirty="0"/>
              <a:t>Verify installation:</a:t>
            </a:r>
          </a:p>
          <a:p>
            <a:r>
              <a:rPr lang="en-IN" dirty="0"/>
              <a:t>node -v</a:t>
            </a:r>
          </a:p>
          <a:p>
            <a:r>
              <a:rPr lang="en-IN" dirty="0" err="1"/>
              <a:t>npm</a:t>
            </a:r>
            <a:r>
              <a:rPr lang="en-IN" dirty="0"/>
              <a:t> -v</a:t>
            </a:r>
          </a:p>
        </p:txBody>
      </p:sp>
      <p:sp>
        <p:nvSpPr>
          <p:cNvPr id="6" name="Rectangle 5">
            <a:extLst>
              <a:ext uri="{FF2B5EF4-FFF2-40B4-BE49-F238E27FC236}">
                <a16:creationId xmlns:a16="http://schemas.microsoft.com/office/drawing/2014/main" id="{1BBADFED-5A95-9AD2-E4C1-C2CD78114331}"/>
              </a:ext>
            </a:extLst>
          </p:cNvPr>
          <p:cNvSpPr/>
          <p:nvPr/>
        </p:nvSpPr>
        <p:spPr>
          <a:xfrm>
            <a:off x="503854" y="3013788"/>
            <a:ext cx="3760236" cy="2397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F521A619-18F2-C980-4B86-1BED646391D3}"/>
              </a:ext>
            </a:extLst>
          </p:cNvPr>
          <p:cNvSpPr txBox="1"/>
          <p:nvPr/>
        </p:nvSpPr>
        <p:spPr>
          <a:xfrm>
            <a:off x="606490" y="3097763"/>
            <a:ext cx="3825551" cy="2585323"/>
          </a:xfrm>
          <a:prstGeom prst="rect">
            <a:avLst/>
          </a:prstGeom>
          <a:noFill/>
        </p:spPr>
        <p:txBody>
          <a:bodyPr wrap="square" rtlCol="0">
            <a:spAutoFit/>
          </a:bodyPr>
          <a:lstStyle/>
          <a:p>
            <a:r>
              <a:rPr lang="en-US" b="1" u="sng" dirty="0"/>
              <a:t>b)Install Angular CLI</a:t>
            </a:r>
          </a:p>
          <a:p>
            <a:endParaRPr lang="en-US" dirty="0"/>
          </a:p>
          <a:p>
            <a:r>
              <a:rPr lang="en-US" dirty="0"/>
              <a:t>Angular CLI is used to create and run Angular apps.</a:t>
            </a:r>
          </a:p>
          <a:p>
            <a:r>
              <a:rPr lang="en-US" dirty="0" err="1"/>
              <a:t>npm</a:t>
            </a:r>
            <a:r>
              <a:rPr lang="en-US" dirty="0"/>
              <a:t> install -g @angular/cli</a:t>
            </a:r>
          </a:p>
          <a:p>
            <a:r>
              <a:rPr lang="en-US" dirty="0"/>
              <a:t>Check installation:</a:t>
            </a:r>
          </a:p>
          <a:p>
            <a:endParaRPr lang="en-US" dirty="0"/>
          </a:p>
          <a:p>
            <a:r>
              <a:rPr lang="en-US" dirty="0"/>
              <a:t>ng version</a:t>
            </a:r>
          </a:p>
          <a:p>
            <a:endParaRPr lang="en-US" dirty="0"/>
          </a:p>
        </p:txBody>
      </p:sp>
      <p:sp>
        <p:nvSpPr>
          <p:cNvPr id="8" name="Rectangle 7">
            <a:extLst>
              <a:ext uri="{FF2B5EF4-FFF2-40B4-BE49-F238E27FC236}">
                <a16:creationId xmlns:a16="http://schemas.microsoft.com/office/drawing/2014/main" id="{D055653A-521F-2842-299F-808D929915F1}"/>
              </a:ext>
            </a:extLst>
          </p:cNvPr>
          <p:cNvSpPr/>
          <p:nvPr/>
        </p:nvSpPr>
        <p:spPr>
          <a:xfrm>
            <a:off x="4609320" y="1045029"/>
            <a:ext cx="3629608" cy="16328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DDC6563D-8B65-727C-C9B3-BA96EAA3CE07}"/>
              </a:ext>
            </a:extLst>
          </p:cNvPr>
          <p:cNvSpPr txBox="1"/>
          <p:nvPr/>
        </p:nvSpPr>
        <p:spPr>
          <a:xfrm>
            <a:off x="4609320" y="1119673"/>
            <a:ext cx="4142792" cy="1477328"/>
          </a:xfrm>
          <a:prstGeom prst="rect">
            <a:avLst/>
          </a:prstGeom>
          <a:noFill/>
        </p:spPr>
        <p:txBody>
          <a:bodyPr wrap="square" rtlCol="0">
            <a:spAutoFit/>
          </a:bodyPr>
          <a:lstStyle/>
          <a:p>
            <a:r>
              <a:rPr lang="en-US" b="1" u="sng" dirty="0"/>
              <a:t>c) Create a New Angular Application</a:t>
            </a:r>
          </a:p>
          <a:p>
            <a:endParaRPr lang="en-US" dirty="0"/>
          </a:p>
          <a:p>
            <a:r>
              <a:rPr lang="en-US" dirty="0"/>
              <a:t>Run:</a:t>
            </a:r>
          </a:p>
          <a:p>
            <a:endParaRPr lang="en-US" dirty="0"/>
          </a:p>
          <a:p>
            <a:r>
              <a:rPr lang="en-US" dirty="0"/>
              <a:t>ng new my-angular-app</a:t>
            </a:r>
            <a:endParaRPr lang="en-IN" dirty="0"/>
          </a:p>
        </p:txBody>
      </p:sp>
      <p:sp>
        <p:nvSpPr>
          <p:cNvPr id="10" name="Rectangle 9">
            <a:extLst>
              <a:ext uri="{FF2B5EF4-FFF2-40B4-BE49-F238E27FC236}">
                <a16:creationId xmlns:a16="http://schemas.microsoft.com/office/drawing/2014/main" id="{1AD628FB-BD11-AE21-A95A-29AFE7B358D7}"/>
              </a:ext>
            </a:extLst>
          </p:cNvPr>
          <p:cNvSpPr/>
          <p:nvPr/>
        </p:nvSpPr>
        <p:spPr>
          <a:xfrm>
            <a:off x="4609320" y="3013788"/>
            <a:ext cx="3629608" cy="23326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TextBox 10">
            <a:extLst>
              <a:ext uri="{FF2B5EF4-FFF2-40B4-BE49-F238E27FC236}">
                <a16:creationId xmlns:a16="http://schemas.microsoft.com/office/drawing/2014/main" id="{9DFFF19F-3342-9282-BE26-84ACDE5DB6D7}"/>
              </a:ext>
            </a:extLst>
          </p:cNvPr>
          <p:cNvSpPr txBox="1"/>
          <p:nvPr/>
        </p:nvSpPr>
        <p:spPr>
          <a:xfrm>
            <a:off x="4693296" y="3097763"/>
            <a:ext cx="3797559" cy="2585323"/>
          </a:xfrm>
          <a:prstGeom prst="rect">
            <a:avLst/>
          </a:prstGeom>
          <a:noFill/>
        </p:spPr>
        <p:txBody>
          <a:bodyPr wrap="square" rtlCol="0">
            <a:spAutoFit/>
          </a:bodyPr>
          <a:lstStyle/>
          <a:p>
            <a:r>
              <a:rPr lang="en-US" b="1" u="sng" dirty="0"/>
              <a:t>d) Run the Angular Application</a:t>
            </a:r>
          </a:p>
          <a:p>
            <a:r>
              <a:rPr lang="en-US" dirty="0"/>
              <a:t>Move into the project folder:</a:t>
            </a:r>
          </a:p>
          <a:p>
            <a:endParaRPr lang="en-US" dirty="0"/>
          </a:p>
          <a:p>
            <a:r>
              <a:rPr lang="en-US" dirty="0"/>
              <a:t>cd my-angular-app</a:t>
            </a:r>
          </a:p>
          <a:p>
            <a:endParaRPr lang="en-US" dirty="0"/>
          </a:p>
          <a:p>
            <a:r>
              <a:rPr lang="en-US" dirty="0"/>
              <a:t>Start the development server:</a:t>
            </a:r>
          </a:p>
          <a:p>
            <a:endParaRPr lang="en-US" dirty="0"/>
          </a:p>
          <a:p>
            <a:r>
              <a:rPr lang="en-US" dirty="0"/>
              <a:t>ng serve</a:t>
            </a:r>
          </a:p>
          <a:p>
            <a:endParaRPr lang="en-IN" dirty="0"/>
          </a:p>
        </p:txBody>
      </p:sp>
      <p:sp>
        <p:nvSpPr>
          <p:cNvPr id="12" name="Oval 11">
            <a:extLst>
              <a:ext uri="{FF2B5EF4-FFF2-40B4-BE49-F238E27FC236}">
                <a16:creationId xmlns:a16="http://schemas.microsoft.com/office/drawing/2014/main" id="{7DDDF631-0AA3-0715-92CA-E15941554A18}"/>
              </a:ext>
            </a:extLst>
          </p:cNvPr>
          <p:cNvSpPr/>
          <p:nvPr/>
        </p:nvSpPr>
        <p:spPr>
          <a:xfrm>
            <a:off x="8322904" y="1865749"/>
            <a:ext cx="2817847" cy="291152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Open in Browser</a:t>
            </a:r>
          </a:p>
          <a:p>
            <a:pPr algn="ctr"/>
            <a:endParaRPr lang="en-US" b="1" dirty="0"/>
          </a:p>
          <a:p>
            <a:pPr algn="ctr"/>
            <a:r>
              <a:rPr lang="en-US" b="1" dirty="0"/>
              <a:t>Goto</a:t>
            </a:r>
          </a:p>
          <a:p>
            <a:pPr algn="ctr"/>
            <a:r>
              <a:rPr lang="en-US" b="1" dirty="0"/>
              <a:t> </a:t>
            </a:r>
            <a:r>
              <a:rPr lang="en-US" sz="2000" b="1" dirty="0"/>
              <a:t>http://localhost:4200/</a:t>
            </a:r>
            <a:endParaRPr lang="en-IN" sz="2000" b="1" dirty="0"/>
          </a:p>
        </p:txBody>
      </p:sp>
    </p:spTree>
    <p:extLst>
      <p:ext uri="{BB962C8B-B14F-4D97-AF65-F5344CB8AC3E}">
        <p14:creationId xmlns:p14="http://schemas.microsoft.com/office/powerpoint/2010/main" val="2555252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399204-AE35-24C7-6DE3-83E6C0FBEA43}"/>
              </a:ext>
            </a:extLst>
          </p:cNvPr>
          <p:cNvSpPr txBox="1"/>
          <p:nvPr/>
        </p:nvSpPr>
        <p:spPr>
          <a:xfrm>
            <a:off x="242596" y="158620"/>
            <a:ext cx="11709918" cy="5078313"/>
          </a:xfrm>
          <a:prstGeom prst="rect">
            <a:avLst/>
          </a:prstGeom>
          <a:noFill/>
        </p:spPr>
        <p:txBody>
          <a:bodyPr wrap="square" rtlCol="0">
            <a:spAutoFit/>
          </a:bodyPr>
          <a:lstStyle/>
          <a:p>
            <a:r>
              <a:rPr lang="en-US" dirty="0"/>
              <a:t>Angular 1</a:t>
            </a:r>
            <a:r>
              <a:rPr lang="en-US" baseline="30000" dirty="0"/>
              <a:t>st</a:t>
            </a:r>
            <a:r>
              <a:rPr lang="en-US" dirty="0"/>
              <a:t> application</a:t>
            </a:r>
          </a:p>
          <a:p>
            <a:endParaRPr lang="en-IN" dirty="0"/>
          </a:p>
          <a:p>
            <a:r>
              <a:rPr lang="en-IN" dirty="0"/>
              <a:t>&gt;ng new my-app </a:t>
            </a:r>
          </a:p>
          <a:p>
            <a:endParaRPr lang="en-IN" dirty="0"/>
          </a:p>
          <a:p>
            <a:r>
              <a:rPr lang="en-IN" dirty="0" err="1"/>
              <a:t>src</a:t>
            </a:r>
            <a:r>
              <a:rPr lang="en-IN" dirty="0"/>
              <a:t>/</a:t>
            </a:r>
            <a:r>
              <a:rPr lang="en-IN" dirty="0" err="1"/>
              <a:t>main.ts</a:t>
            </a:r>
            <a:r>
              <a:rPr lang="en-IN" dirty="0"/>
              <a:t> - Boots the app with </a:t>
            </a:r>
            <a:r>
              <a:rPr lang="en-IN" dirty="0" err="1"/>
              <a:t>bootstrapApplication</a:t>
            </a:r>
            <a:r>
              <a:rPr lang="en-IN" dirty="0"/>
              <a:t>.</a:t>
            </a:r>
          </a:p>
          <a:p>
            <a:endParaRPr lang="en-IN" dirty="0"/>
          </a:p>
          <a:p>
            <a:r>
              <a:rPr lang="en-IN" dirty="0" err="1"/>
              <a:t>src</a:t>
            </a:r>
            <a:r>
              <a:rPr lang="en-IN" dirty="0"/>
              <a:t>/app/</a:t>
            </a:r>
            <a:r>
              <a:rPr lang="en-IN" dirty="0" err="1"/>
              <a:t>app.component.ts</a:t>
            </a:r>
            <a:r>
              <a:rPr lang="en-IN" dirty="0"/>
              <a:t> - Root component (if used). You can also define the root inline in </a:t>
            </a:r>
            <a:r>
              <a:rPr lang="en-IN" dirty="0" err="1"/>
              <a:t>main.ts</a:t>
            </a:r>
            <a:r>
              <a:rPr lang="en-IN" dirty="0"/>
              <a:t>.</a:t>
            </a:r>
          </a:p>
          <a:p>
            <a:endParaRPr lang="en-IN" dirty="0"/>
          </a:p>
          <a:p>
            <a:r>
              <a:rPr lang="en-IN" dirty="0" err="1"/>
              <a:t>src</a:t>
            </a:r>
            <a:r>
              <a:rPr lang="en-IN" dirty="0"/>
              <a:t>/app/ - Where you add your components and features.</a:t>
            </a:r>
          </a:p>
          <a:p>
            <a:endParaRPr lang="en-IN" dirty="0"/>
          </a:p>
          <a:p>
            <a:r>
              <a:rPr lang="en-IN" dirty="0" err="1"/>
              <a:t>src</a:t>
            </a:r>
            <a:r>
              <a:rPr lang="en-IN" dirty="0"/>
              <a:t>/index.html - Host page that contains &lt;app-root&gt;.</a:t>
            </a:r>
          </a:p>
          <a:p>
            <a:endParaRPr lang="en-IN" dirty="0"/>
          </a:p>
          <a:p>
            <a:r>
              <a:rPr lang="en-IN" dirty="0" err="1"/>
              <a:t>src</a:t>
            </a:r>
            <a:r>
              <a:rPr lang="en-IN" dirty="0"/>
              <a:t>/styles.css - Global styles for the app.</a:t>
            </a:r>
          </a:p>
          <a:p>
            <a:endParaRPr lang="en-IN" dirty="0"/>
          </a:p>
          <a:p>
            <a:r>
              <a:rPr lang="en-IN" dirty="0" err="1"/>
              <a:t>angular.json</a:t>
            </a:r>
            <a:r>
              <a:rPr lang="en-IN" dirty="0"/>
              <a:t> - Angular workspace configuration (build, serve, test).</a:t>
            </a:r>
          </a:p>
          <a:p>
            <a:endParaRPr lang="en-IN" dirty="0"/>
          </a:p>
          <a:p>
            <a:r>
              <a:rPr lang="en-IN" dirty="0" err="1"/>
              <a:t>package.json</a:t>
            </a:r>
            <a:r>
              <a:rPr lang="en-IN" dirty="0"/>
              <a:t> - Scripts and dependencies.</a:t>
            </a:r>
          </a:p>
          <a:p>
            <a:endParaRPr lang="en-IN" dirty="0"/>
          </a:p>
        </p:txBody>
      </p:sp>
    </p:spTree>
    <p:extLst>
      <p:ext uri="{BB962C8B-B14F-4D97-AF65-F5344CB8AC3E}">
        <p14:creationId xmlns:p14="http://schemas.microsoft.com/office/powerpoint/2010/main" val="363728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690336"/>
            <a:ext cx="6096000" cy="369332"/>
          </a:xfrm>
          <a:prstGeom prst="rect">
            <a:avLst/>
          </a:prstGeom>
        </p:spPr>
        <p:txBody>
          <a:bodyPr>
            <a:spAutoFit/>
          </a:bodyPr>
          <a:lstStyle/>
          <a:p>
            <a:endParaRPr lang="en-US" dirty="0"/>
          </a:p>
        </p:txBody>
      </p:sp>
      <p:pic>
        <p:nvPicPr>
          <p:cNvPr id="3" name="Picture 2"/>
          <p:cNvPicPr>
            <a:picLocks noChangeAspect="1"/>
          </p:cNvPicPr>
          <p:nvPr/>
        </p:nvPicPr>
        <p:blipFill>
          <a:blip r:embed="rId2"/>
          <a:stretch>
            <a:fillRect/>
          </a:stretch>
        </p:blipFill>
        <p:spPr>
          <a:xfrm>
            <a:off x="104775" y="1250402"/>
            <a:ext cx="11982450" cy="4819650"/>
          </a:xfrm>
          <a:prstGeom prst="rect">
            <a:avLst/>
          </a:prstGeom>
        </p:spPr>
      </p:pic>
      <p:sp>
        <p:nvSpPr>
          <p:cNvPr id="4" name="TextBox 3"/>
          <p:cNvSpPr txBox="1"/>
          <p:nvPr/>
        </p:nvSpPr>
        <p:spPr>
          <a:xfrm>
            <a:off x="178676" y="315310"/>
            <a:ext cx="8439807" cy="369332"/>
          </a:xfrm>
          <a:prstGeom prst="rect">
            <a:avLst/>
          </a:prstGeom>
          <a:noFill/>
        </p:spPr>
        <p:txBody>
          <a:bodyPr wrap="square" rtlCol="0">
            <a:spAutoFit/>
          </a:bodyPr>
          <a:lstStyle/>
          <a:p>
            <a:r>
              <a:rPr lang="en-US" dirty="0"/>
              <a:t>What is Component</a:t>
            </a:r>
          </a:p>
        </p:txBody>
      </p:sp>
      <p:sp>
        <p:nvSpPr>
          <p:cNvPr id="5" name="TextBox 4"/>
          <p:cNvSpPr txBox="1"/>
          <p:nvPr/>
        </p:nvSpPr>
        <p:spPr>
          <a:xfrm>
            <a:off x="178676" y="929836"/>
            <a:ext cx="11183007" cy="641131"/>
          </a:xfrm>
          <a:prstGeom prst="rect">
            <a:avLst/>
          </a:prstGeom>
          <a:noFill/>
        </p:spPr>
        <p:txBody>
          <a:bodyPr wrap="square" rtlCol="0">
            <a:spAutoFit/>
          </a:bodyPr>
          <a:lstStyle/>
          <a:p>
            <a:r>
              <a:rPr lang="en-US" dirty="0"/>
              <a:t>The core idea behind Angular is to build components. </a:t>
            </a:r>
          </a:p>
          <a:p>
            <a:r>
              <a:rPr lang="en-US" dirty="0"/>
              <a:t>They make your complex application into reusable parts which you can reuse very easily.</a:t>
            </a:r>
          </a:p>
        </p:txBody>
      </p:sp>
    </p:spTree>
    <p:extLst>
      <p:ext uri="{BB962C8B-B14F-4D97-AF65-F5344CB8AC3E}">
        <p14:creationId xmlns:p14="http://schemas.microsoft.com/office/powerpoint/2010/main" val="3280958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5007" y="441434"/>
            <a:ext cx="8933793" cy="923330"/>
          </a:xfrm>
          <a:prstGeom prst="rect">
            <a:avLst/>
          </a:prstGeom>
          <a:noFill/>
        </p:spPr>
        <p:txBody>
          <a:bodyPr wrap="square" rtlCol="0">
            <a:spAutoFit/>
          </a:bodyPr>
          <a:lstStyle/>
          <a:p>
            <a:r>
              <a:rPr lang="en-US" dirty="0"/>
              <a:t>Code</a:t>
            </a:r>
          </a:p>
          <a:p>
            <a:endParaRPr lang="en-US" dirty="0"/>
          </a:p>
          <a:p>
            <a:endParaRPr lang="en-US" dirty="0"/>
          </a:p>
        </p:txBody>
      </p:sp>
      <p:pic>
        <p:nvPicPr>
          <p:cNvPr id="3" name="Picture 2"/>
          <p:cNvPicPr>
            <a:picLocks noChangeAspect="1"/>
          </p:cNvPicPr>
          <p:nvPr/>
        </p:nvPicPr>
        <p:blipFill>
          <a:blip r:embed="rId2"/>
          <a:stretch>
            <a:fillRect/>
          </a:stretch>
        </p:blipFill>
        <p:spPr>
          <a:xfrm>
            <a:off x="588579" y="1142042"/>
            <a:ext cx="6340201" cy="3794865"/>
          </a:xfrm>
          <a:prstGeom prst="rect">
            <a:avLst/>
          </a:prstGeom>
        </p:spPr>
      </p:pic>
      <p:pic>
        <p:nvPicPr>
          <p:cNvPr id="4" name="Picture 3"/>
          <p:cNvPicPr>
            <a:picLocks noChangeAspect="1"/>
          </p:cNvPicPr>
          <p:nvPr/>
        </p:nvPicPr>
        <p:blipFill>
          <a:blip r:embed="rId3"/>
          <a:stretch>
            <a:fillRect/>
          </a:stretch>
        </p:blipFill>
        <p:spPr>
          <a:xfrm>
            <a:off x="7559894" y="548686"/>
            <a:ext cx="2495550" cy="4981575"/>
          </a:xfrm>
          <a:prstGeom prst="rect">
            <a:avLst/>
          </a:prstGeom>
        </p:spPr>
      </p:pic>
      <p:cxnSp>
        <p:nvCxnSpPr>
          <p:cNvPr id="6" name="Straight Arrow Connector 5"/>
          <p:cNvCxnSpPr/>
          <p:nvPr/>
        </p:nvCxnSpPr>
        <p:spPr>
          <a:xfrm>
            <a:off x="4309241" y="1617012"/>
            <a:ext cx="38572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022428" y="1364764"/>
            <a:ext cx="31531" cy="75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307724" y="3111972"/>
            <a:ext cx="2252170" cy="324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099034" y="4067503"/>
            <a:ext cx="3605049" cy="86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92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497" y="430924"/>
            <a:ext cx="8481848" cy="1477328"/>
          </a:xfrm>
          <a:prstGeom prst="rect">
            <a:avLst/>
          </a:prstGeom>
        </p:spPr>
        <p:txBody>
          <a:bodyPr wrap="square">
            <a:spAutoFit/>
          </a:bodyPr>
          <a:lstStyle/>
          <a:p>
            <a:r>
              <a:rPr lang="en-US" b="1" u="sng" dirty="0"/>
              <a:t>Decorator</a:t>
            </a:r>
          </a:p>
          <a:p>
            <a:endParaRPr lang="en-US" b="1" u="sng" dirty="0"/>
          </a:p>
          <a:p>
            <a:r>
              <a:rPr lang="en-US" dirty="0"/>
              <a:t>A function that adds metadata to a class, its members, or its method arguments. </a:t>
            </a:r>
          </a:p>
          <a:p>
            <a:endParaRPr lang="en-US" dirty="0"/>
          </a:p>
          <a:p>
            <a:r>
              <a:rPr lang="en-US" dirty="0"/>
              <a:t>Prefixed with an @. Angular provides built-in decorators. @Component()</a:t>
            </a:r>
          </a:p>
        </p:txBody>
      </p:sp>
      <p:pic>
        <p:nvPicPr>
          <p:cNvPr id="3" name="Picture 2"/>
          <p:cNvPicPr>
            <a:picLocks noChangeAspect="1"/>
          </p:cNvPicPr>
          <p:nvPr/>
        </p:nvPicPr>
        <p:blipFill>
          <a:blip r:embed="rId2"/>
          <a:stretch>
            <a:fillRect/>
          </a:stretch>
        </p:blipFill>
        <p:spPr>
          <a:xfrm>
            <a:off x="1016876" y="2270070"/>
            <a:ext cx="8077200" cy="3705225"/>
          </a:xfrm>
          <a:prstGeom prst="rect">
            <a:avLst/>
          </a:prstGeom>
        </p:spPr>
      </p:pic>
    </p:spTree>
    <p:extLst>
      <p:ext uri="{BB962C8B-B14F-4D97-AF65-F5344CB8AC3E}">
        <p14:creationId xmlns:p14="http://schemas.microsoft.com/office/powerpoint/2010/main" val="3407716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352" y="315310"/>
            <a:ext cx="11508827" cy="646331"/>
          </a:xfrm>
          <a:prstGeom prst="rect">
            <a:avLst/>
          </a:prstGeom>
          <a:noFill/>
        </p:spPr>
        <p:txBody>
          <a:bodyPr wrap="square" rtlCol="0">
            <a:spAutoFit/>
          </a:bodyPr>
          <a:lstStyle/>
          <a:p>
            <a:r>
              <a:rPr lang="en-US" b="1" u="sng" dirty="0"/>
              <a:t>Binding</a:t>
            </a:r>
          </a:p>
          <a:p>
            <a:endParaRPr lang="en-US" dirty="0"/>
          </a:p>
        </p:txBody>
      </p:sp>
      <p:sp>
        <p:nvSpPr>
          <p:cNvPr id="3" name="TextBox 2"/>
          <p:cNvSpPr txBox="1"/>
          <p:nvPr/>
        </p:nvSpPr>
        <p:spPr>
          <a:xfrm>
            <a:off x="441434" y="788276"/>
            <a:ext cx="10909738" cy="923330"/>
          </a:xfrm>
          <a:prstGeom prst="rect">
            <a:avLst/>
          </a:prstGeom>
          <a:noFill/>
        </p:spPr>
        <p:txBody>
          <a:bodyPr wrap="square" rtlCol="0">
            <a:spAutoFit/>
          </a:bodyPr>
          <a:lstStyle/>
          <a:p>
            <a:r>
              <a:rPr lang="en-US" dirty="0"/>
              <a:t>Coordinates communication between the component's class and its template and often involves passing data.</a:t>
            </a:r>
          </a:p>
          <a:p>
            <a:endParaRPr lang="en-US" dirty="0"/>
          </a:p>
          <a:p>
            <a:endParaRPr lang="en-US" dirty="0"/>
          </a:p>
        </p:txBody>
      </p:sp>
      <p:pic>
        <p:nvPicPr>
          <p:cNvPr id="4" name="Picture 3"/>
          <p:cNvPicPr>
            <a:picLocks noChangeAspect="1"/>
          </p:cNvPicPr>
          <p:nvPr/>
        </p:nvPicPr>
        <p:blipFill>
          <a:blip r:embed="rId2"/>
          <a:stretch>
            <a:fillRect/>
          </a:stretch>
        </p:blipFill>
        <p:spPr>
          <a:xfrm>
            <a:off x="1299013" y="1711606"/>
            <a:ext cx="6419850" cy="2647950"/>
          </a:xfrm>
          <a:prstGeom prst="rect">
            <a:avLst/>
          </a:prstGeom>
        </p:spPr>
      </p:pic>
    </p:spTree>
    <p:extLst>
      <p:ext uri="{BB962C8B-B14F-4D97-AF65-F5344CB8AC3E}">
        <p14:creationId xmlns:p14="http://schemas.microsoft.com/office/powerpoint/2010/main" val="234230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3269" y="315310"/>
            <a:ext cx="11529848" cy="3693319"/>
          </a:xfrm>
          <a:prstGeom prst="rect">
            <a:avLst/>
          </a:prstGeom>
          <a:noFill/>
        </p:spPr>
        <p:txBody>
          <a:bodyPr wrap="square" rtlCol="0">
            <a:spAutoFit/>
          </a:bodyPr>
          <a:lstStyle/>
          <a:p>
            <a:r>
              <a:rPr lang="en-US" b="1" dirty="0"/>
              <a:t>There is two type of databinding:</a:t>
            </a:r>
            <a:endParaRPr lang="en-US" dirty="0"/>
          </a:p>
          <a:p>
            <a:r>
              <a:rPr lang="en-US" b="1" dirty="0"/>
              <a:t>One-way databinding</a:t>
            </a:r>
            <a:endParaRPr lang="en-US" dirty="0"/>
          </a:p>
          <a:p>
            <a:r>
              <a:rPr lang="en-US" dirty="0"/>
              <a:t>One way databinding is a simple one way communication where HTML template is changed when we make changes in </a:t>
            </a:r>
            <a:r>
              <a:rPr lang="en-US" dirty="0" err="1"/>
              <a:t>TypeScript</a:t>
            </a:r>
            <a:r>
              <a:rPr lang="en-US" dirty="0"/>
              <a:t> code.</a:t>
            </a:r>
          </a:p>
          <a:p>
            <a:endParaRPr lang="en-US" dirty="0"/>
          </a:p>
          <a:p>
            <a:endParaRPr lang="en-US" b="1" dirty="0"/>
          </a:p>
          <a:p>
            <a:r>
              <a:rPr lang="en-US" b="1" dirty="0"/>
              <a:t>Two-way databinding</a:t>
            </a:r>
            <a:endParaRPr lang="en-US" dirty="0"/>
          </a:p>
          <a:p>
            <a:r>
              <a:rPr lang="en-US" dirty="0"/>
              <a:t>In two-way databinding, automatic synchronization of data happens between the Model and the View. </a:t>
            </a:r>
          </a:p>
          <a:p>
            <a:endParaRPr lang="en-US" dirty="0"/>
          </a:p>
          <a:p>
            <a:r>
              <a:rPr lang="en-US" dirty="0"/>
              <a:t>change is reflected in both components. Whenever you make changes in the Model, it will be reflected in the View and when you make changes in View, it will be reflected in Model.</a:t>
            </a:r>
          </a:p>
          <a:p>
            <a:br>
              <a:rPr lang="en-US" dirty="0"/>
            </a:br>
            <a:endParaRPr lang="en-US" dirty="0"/>
          </a:p>
        </p:txBody>
      </p:sp>
      <p:pic>
        <p:nvPicPr>
          <p:cNvPr id="3" name="Picture 2"/>
          <p:cNvPicPr>
            <a:picLocks noChangeAspect="1"/>
          </p:cNvPicPr>
          <p:nvPr/>
        </p:nvPicPr>
        <p:blipFill>
          <a:blip r:embed="rId2"/>
          <a:stretch>
            <a:fillRect/>
          </a:stretch>
        </p:blipFill>
        <p:spPr>
          <a:xfrm>
            <a:off x="756745" y="3911654"/>
            <a:ext cx="10302444" cy="2205367"/>
          </a:xfrm>
          <a:prstGeom prst="rect">
            <a:avLst/>
          </a:prstGeom>
        </p:spPr>
      </p:pic>
    </p:spTree>
    <p:extLst>
      <p:ext uri="{BB962C8B-B14F-4D97-AF65-F5344CB8AC3E}">
        <p14:creationId xmlns:p14="http://schemas.microsoft.com/office/powerpoint/2010/main" val="3380217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352" y="325821"/>
            <a:ext cx="7031420" cy="646331"/>
          </a:xfrm>
          <a:prstGeom prst="rect">
            <a:avLst/>
          </a:prstGeom>
          <a:noFill/>
        </p:spPr>
        <p:txBody>
          <a:bodyPr wrap="square" rtlCol="0">
            <a:spAutoFit/>
          </a:bodyPr>
          <a:lstStyle/>
          <a:p>
            <a:r>
              <a:rPr lang="en-US" b="1" u="sng" dirty="0"/>
              <a:t>Interpolation</a:t>
            </a:r>
          </a:p>
          <a:p>
            <a:endParaRPr lang="en-US" dirty="0"/>
          </a:p>
        </p:txBody>
      </p:sp>
      <p:sp>
        <p:nvSpPr>
          <p:cNvPr id="3" name="TextBox 2"/>
          <p:cNvSpPr txBox="1"/>
          <p:nvPr/>
        </p:nvSpPr>
        <p:spPr>
          <a:xfrm>
            <a:off x="462454" y="756745"/>
            <a:ext cx="10815145" cy="923330"/>
          </a:xfrm>
          <a:prstGeom prst="rect">
            <a:avLst/>
          </a:prstGeom>
          <a:noFill/>
        </p:spPr>
        <p:txBody>
          <a:bodyPr wrap="square" rtlCol="0">
            <a:spAutoFit/>
          </a:bodyPr>
          <a:lstStyle/>
          <a:p>
            <a:endParaRPr lang="en-US" dirty="0"/>
          </a:p>
          <a:p>
            <a:r>
              <a:rPr lang="en-US" dirty="0"/>
              <a:t>It facilitates you to make changes on </a:t>
            </a:r>
            <a:r>
              <a:rPr lang="en-US" dirty="0" err="1"/>
              <a:t>component.ts</a:t>
            </a:r>
            <a:r>
              <a:rPr lang="en-US" dirty="0"/>
              <a:t> file and fetch data from there to HTML template (component.html file).</a:t>
            </a:r>
          </a:p>
        </p:txBody>
      </p:sp>
      <p:pic>
        <p:nvPicPr>
          <p:cNvPr id="4" name="Picture 3"/>
          <p:cNvPicPr>
            <a:picLocks noChangeAspect="1"/>
          </p:cNvPicPr>
          <p:nvPr/>
        </p:nvPicPr>
        <p:blipFill>
          <a:blip r:embed="rId2"/>
          <a:stretch>
            <a:fillRect/>
          </a:stretch>
        </p:blipFill>
        <p:spPr>
          <a:xfrm>
            <a:off x="876592" y="1842922"/>
            <a:ext cx="10401007" cy="4253077"/>
          </a:xfrm>
          <a:prstGeom prst="rect">
            <a:avLst/>
          </a:prstGeom>
        </p:spPr>
      </p:pic>
    </p:spTree>
    <p:extLst>
      <p:ext uri="{BB962C8B-B14F-4D97-AF65-F5344CB8AC3E}">
        <p14:creationId xmlns:p14="http://schemas.microsoft.com/office/powerpoint/2010/main" val="621603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FFD69F-482B-9757-A466-FB9B096FE708}"/>
              </a:ext>
            </a:extLst>
          </p:cNvPr>
          <p:cNvSpPr txBox="1"/>
          <p:nvPr/>
        </p:nvSpPr>
        <p:spPr>
          <a:xfrm>
            <a:off x="279918" y="270588"/>
            <a:ext cx="11504645" cy="4247317"/>
          </a:xfrm>
          <a:prstGeom prst="rect">
            <a:avLst/>
          </a:prstGeom>
          <a:noFill/>
        </p:spPr>
        <p:txBody>
          <a:bodyPr wrap="square" rtlCol="0">
            <a:spAutoFit/>
          </a:bodyPr>
          <a:lstStyle/>
          <a:p>
            <a:r>
              <a:rPr lang="en-US" b="1" u="sng" dirty="0"/>
              <a:t>Data Binding Essentials</a:t>
            </a:r>
          </a:p>
          <a:p>
            <a:endParaRPr lang="en-US" dirty="0"/>
          </a:p>
          <a:p>
            <a:r>
              <a:rPr lang="en-US" dirty="0"/>
              <a:t>Connect component state and template markup.</a:t>
            </a:r>
          </a:p>
          <a:p>
            <a:r>
              <a:rPr lang="en-US" dirty="0"/>
              <a:t>Use </a:t>
            </a:r>
            <a:r>
              <a:rPr lang="en-US" b="1" dirty="0"/>
              <a:t>interpolation</a:t>
            </a:r>
            <a:r>
              <a:rPr lang="en-US" dirty="0"/>
              <a:t> for text, </a:t>
            </a:r>
            <a:r>
              <a:rPr lang="en-US" b="1" dirty="0"/>
              <a:t>property binding</a:t>
            </a:r>
            <a:r>
              <a:rPr lang="en-US" dirty="0"/>
              <a:t> for DOM properties, and </a:t>
            </a:r>
            <a:r>
              <a:rPr lang="en-US" b="1" dirty="0"/>
              <a:t>event binding</a:t>
            </a:r>
            <a:r>
              <a:rPr lang="en-US" dirty="0"/>
              <a:t> for user actions.</a:t>
            </a:r>
          </a:p>
          <a:p>
            <a:r>
              <a:rPr lang="en-US" dirty="0"/>
              <a:t>Use </a:t>
            </a:r>
            <a:r>
              <a:rPr lang="en-US" b="1" dirty="0"/>
              <a:t>two-way binding</a:t>
            </a:r>
            <a:r>
              <a:rPr lang="en-US" dirty="0"/>
              <a:t> for form inputs that both display and update state.</a:t>
            </a:r>
          </a:p>
          <a:p>
            <a:r>
              <a:rPr lang="en-US" dirty="0"/>
              <a:t>Bind attributes with [</a:t>
            </a:r>
            <a:r>
              <a:rPr lang="en-US" dirty="0" err="1"/>
              <a:t>attr</a:t>
            </a:r>
            <a:r>
              <a:rPr lang="en-US" dirty="0"/>
              <a:t>.*], and classes/styles with [class.*]/[style.*].</a:t>
            </a:r>
          </a:p>
          <a:p>
            <a:endParaRPr lang="en-US" dirty="0"/>
          </a:p>
          <a:p>
            <a:r>
              <a:rPr lang="en-US" dirty="0"/>
              <a:t>{{ value }}</a:t>
            </a:r>
          </a:p>
          <a:p>
            <a:endParaRPr lang="en-US" dirty="0"/>
          </a:p>
          <a:p>
            <a:r>
              <a:rPr lang="en-US" dirty="0"/>
              <a:t>[prop]="value"</a:t>
            </a:r>
          </a:p>
          <a:p>
            <a:endParaRPr lang="en-US" dirty="0"/>
          </a:p>
          <a:p>
            <a:r>
              <a:rPr lang="en-US" dirty="0"/>
              <a:t>(event)="handler($event)"</a:t>
            </a:r>
          </a:p>
          <a:p>
            <a:endParaRPr lang="en-US" dirty="0"/>
          </a:p>
          <a:p>
            <a:r>
              <a:rPr lang="en-US" dirty="0"/>
              <a:t>[(</a:t>
            </a:r>
            <a:r>
              <a:rPr lang="en-US" dirty="0" err="1"/>
              <a:t>ngModel</a:t>
            </a:r>
            <a:r>
              <a:rPr lang="en-US" dirty="0"/>
              <a:t>)]="value"</a:t>
            </a:r>
          </a:p>
          <a:p>
            <a:endParaRPr lang="en-IN" dirty="0"/>
          </a:p>
        </p:txBody>
      </p:sp>
      <p:sp>
        <p:nvSpPr>
          <p:cNvPr id="4" name="TextBox 3">
            <a:extLst>
              <a:ext uri="{FF2B5EF4-FFF2-40B4-BE49-F238E27FC236}">
                <a16:creationId xmlns:a16="http://schemas.microsoft.com/office/drawing/2014/main" id="{BA97E663-F0B7-445D-4595-62C9C779DFD6}"/>
              </a:ext>
            </a:extLst>
          </p:cNvPr>
          <p:cNvSpPr txBox="1"/>
          <p:nvPr/>
        </p:nvSpPr>
        <p:spPr>
          <a:xfrm>
            <a:off x="690465" y="4170784"/>
            <a:ext cx="9974425" cy="2862322"/>
          </a:xfrm>
          <a:prstGeom prst="rect">
            <a:avLst/>
          </a:prstGeom>
          <a:noFill/>
        </p:spPr>
        <p:txBody>
          <a:bodyPr wrap="square" rtlCol="0">
            <a:spAutoFit/>
          </a:bodyPr>
          <a:lstStyle/>
          <a:p>
            <a:br>
              <a:rPr lang="en-IN" dirty="0"/>
            </a:br>
            <a:endParaRPr lang="en-IN" dirty="0"/>
          </a:p>
          <a:p>
            <a:r>
              <a:rPr lang="en-IN" dirty="0"/>
              <a:t>{{</a:t>
            </a:r>
            <a:r>
              <a:rPr lang="en-IN" dirty="0" err="1"/>
              <a:t>pageTitle</a:t>
            </a:r>
            <a:r>
              <a:rPr lang="en-IN" dirty="0"/>
              <a:t>}}</a:t>
            </a:r>
          </a:p>
          <a:p>
            <a:br>
              <a:rPr lang="en-IN" dirty="0"/>
            </a:br>
            <a:endParaRPr lang="en-IN" dirty="0"/>
          </a:p>
          <a:p>
            <a:r>
              <a:rPr lang="en-IN" dirty="0"/>
              <a:t>&lt;input type="text" [(</a:t>
            </a:r>
            <a:r>
              <a:rPr lang="en-IN" dirty="0" err="1"/>
              <a:t>ngModel</a:t>
            </a:r>
            <a:r>
              <a:rPr lang="en-IN" dirty="0"/>
              <a:t>)]="</a:t>
            </a:r>
            <a:r>
              <a:rPr lang="en-IN" dirty="0" err="1"/>
              <a:t>inputValue</a:t>
            </a:r>
            <a:r>
              <a:rPr lang="en-IN" dirty="0"/>
              <a:t>" placeholder="Enter text here"&gt;</a:t>
            </a:r>
          </a:p>
          <a:p>
            <a:r>
              <a:rPr lang="en-IN" dirty="0"/>
              <a:t>&lt;button [disabled]='</a:t>
            </a:r>
            <a:r>
              <a:rPr lang="en-IN" dirty="0" err="1"/>
              <a:t>isButtonDisabled</a:t>
            </a:r>
            <a:r>
              <a:rPr lang="en-IN" dirty="0"/>
              <a:t>()' (click)="ale()"&gt;Disable Me&lt;/button&gt; </a:t>
            </a:r>
          </a:p>
          <a:p>
            <a:br>
              <a:rPr lang="en-IN" dirty="0"/>
            </a:br>
            <a:endParaRPr lang="en-IN" dirty="0"/>
          </a:p>
          <a:p>
            <a:endParaRPr lang="en-IN" dirty="0"/>
          </a:p>
        </p:txBody>
      </p:sp>
    </p:spTree>
    <p:extLst>
      <p:ext uri="{BB962C8B-B14F-4D97-AF65-F5344CB8AC3E}">
        <p14:creationId xmlns:p14="http://schemas.microsoft.com/office/powerpoint/2010/main" val="3257553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6331" y="294290"/>
            <a:ext cx="11256579" cy="6186309"/>
          </a:xfrm>
          <a:prstGeom prst="rect">
            <a:avLst/>
          </a:prstGeom>
          <a:noFill/>
        </p:spPr>
        <p:txBody>
          <a:bodyPr wrap="square" rtlCol="0">
            <a:spAutoFit/>
          </a:bodyPr>
          <a:lstStyle/>
          <a:p>
            <a:r>
              <a:rPr lang="en-US" b="1" u="sng" dirty="0"/>
              <a:t>Property Binding</a:t>
            </a:r>
          </a:p>
          <a:p>
            <a:endParaRPr lang="en-US" b="1" u="sng" dirty="0"/>
          </a:p>
          <a:p>
            <a:r>
              <a:rPr lang="en-US" dirty="0"/>
              <a:t>Property Binding is a </a:t>
            </a:r>
            <a:r>
              <a:rPr lang="en-US" b="1" dirty="0"/>
              <a:t>one-way data-binding</a:t>
            </a:r>
            <a:r>
              <a:rPr lang="en-US" dirty="0"/>
              <a:t> technique. In property binding, we bind a property of a DOM element to a field which is a defined property in our component TypeScript code. Actually, Angular internally converts string interpolation into property binding.</a:t>
            </a:r>
          </a:p>
          <a:p>
            <a:endParaRPr lang="en-US" dirty="0"/>
          </a:p>
          <a:p>
            <a:endParaRPr lang="en-US" dirty="0"/>
          </a:p>
          <a:p>
            <a:r>
              <a:rPr lang="en-US" dirty="0"/>
              <a:t>Property binding flows a value in one direction, from a component's property into a target element property.</a:t>
            </a:r>
          </a:p>
          <a:p>
            <a:endParaRPr lang="en-US" dirty="0"/>
          </a:p>
          <a:p>
            <a:endParaRPr lang="en-US" dirty="0"/>
          </a:p>
          <a:p>
            <a:r>
              <a:rPr lang="en-US" dirty="0"/>
              <a:t>import { Component } from '@angular/core';  </a:t>
            </a:r>
          </a:p>
          <a:p>
            <a:r>
              <a:rPr lang="en-US" dirty="0"/>
              <a:t>@Component({  </a:t>
            </a:r>
          </a:p>
          <a:p>
            <a:r>
              <a:rPr lang="en-US" dirty="0"/>
              <a:t>    selector: 'my-app',  </a:t>
            </a:r>
          </a:p>
          <a:p>
            <a:r>
              <a:rPr lang="en-US" dirty="0"/>
              <a:t>    template: `</a:t>
            </a:r>
            <a:r>
              <a:rPr lang="en-US" b="1" dirty="0"/>
              <a:t>&lt;div&gt;</a:t>
            </a:r>
            <a:r>
              <a:rPr lang="en-US" dirty="0"/>
              <a:t>  </a:t>
            </a:r>
          </a:p>
          <a:p>
            <a:r>
              <a:rPr lang="en-US" dirty="0"/>
              <a:t>    &lt;button [disabled]='</a:t>
            </a:r>
            <a:r>
              <a:rPr lang="en-US" dirty="0" err="1"/>
              <a:t>isDisabled</a:t>
            </a:r>
            <a:r>
              <a:rPr lang="en-US" dirty="0"/>
              <a:t>'&gt;Disable Me&lt;/button&gt; </a:t>
            </a:r>
          </a:p>
          <a:p>
            <a:r>
              <a:rPr lang="en-US" dirty="0"/>
              <a:t>                     </a:t>
            </a:r>
            <a:r>
              <a:rPr lang="en-US" b="1" dirty="0"/>
              <a:t>&lt;/div&gt;</a:t>
            </a:r>
            <a:r>
              <a:rPr lang="en-US" dirty="0"/>
              <a:t>`  </a:t>
            </a:r>
          </a:p>
          <a:p>
            <a:r>
              <a:rPr lang="en-US" dirty="0"/>
              <a:t>})  </a:t>
            </a:r>
          </a:p>
          <a:p>
            <a:r>
              <a:rPr lang="en-US" dirty="0"/>
              <a:t>export class </a:t>
            </a:r>
            <a:r>
              <a:rPr lang="en-US" dirty="0" err="1"/>
              <a:t>AppComponent</a:t>
            </a:r>
            <a:r>
              <a:rPr lang="en-US" dirty="0"/>
              <a:t> {  </a:t>
            </a:r>
          </a:p>
          <a:p>
            <a:r>
              <a:rPr lang="en-US" dirty="0" err="1"/>
              <a:t>isDisabled</a:t>
            </a:r>
            <a:r>
              <a:rPr lang="en-US" dirty="0"/>
              <a:t>: </a:t>
            </a:r>
            <a:r>
              <a:rPr lang="en-US" dirty="0" err="1"/>
              <a:t>boolean</a:t>
            </a:r>
            <a:r>
              <a:rPr lang="en-US" dirty="0"/>
              <a:t> = true/false;  </a:t>
            </a:r>
          </a:p>
          <a:p>
            <a:r>
              <a:rPr lang="en-US" dirty="0"/>
              <a:t>}  </a:t>
            </a:r>
          </a:p>
          <a:p>
            <a:endParaRPr lang="en-US" dirty="0"/>
          </a:p>
          <a:p>
            <a:endParaRPr lang="en-US" dirty="0"/>
          </a:p>
        </p:txBody>
      </p:sp>
      <p:sp>
        <p:nvSpPr>
          <p:cNvPr id="3" name="Oval 2">
            <a:extLst>
              <a:ext uri="{FF2B5EF4-FFF2-40B4-BE49-F238E27FC236}">
                <a16:creationId xmlns:a16="http://schemas.microsoft.com/office/drawing/2014/main" id="{B30EC426-675F-8BDD-C822-3CB88D245F99}"/>
              </a:ext>
            </a:extLst>
          </p:cNvPr>
          <p:cNvSpPr/>
          <p:nvPr/>
        </p:nvSpPr>
        <p:spPr>
          <a:xfrm>
            <a:off x="6456784" y="2743200"/>
            <a:ext cx="4599992" cy="337768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 name="TextBox 3">
            <a:extLst>
              <a:ext uri="{FF2B5EF4-FFF2-40B4-BE49-F238E27FC236}">
                <a16:creationId xmlns:a16="http://schemas.microsoft.com/office/drawing/2014/main" id="{928DEAC0-3C58-B6B4-4BAF-7EAFB496095D}"/>
              </a:ext>
            </a:extLst>
          </p:cNvPr>
          <p:cNvSpPr txBox="1"/>
          <p:nvPr/>
        </p:nvSpPr>
        <p:spPr>
          <a:xfrm>
            <a:off x="6596743" y="3788229"/>
            <a:ext cx="4310743" cy="923330"/>
          </a:xfrm>
          <a:prstGeom prst="rect">
            <a:avLst/>
          </a:prstGeom>
          <a:noFill/>
        </p:spPr>
        <p:txBody>
          <a:bodyPr wrap="square" rtlCol="0">
            <a:spAutoFit/>
          </a:bodyPr>
          <a:lstStyle/>
          <a:p>
            <a:pPr algn="ctr"/>
            <a:r>
              <a:rPr lang="en-IN" dirty="0"/>
              <a:t>&lt;element [property]= '</a:t>
            </a:r>
            <a:r>
              <a:rPr lang="en-IN" dirty="0" err="1"/>
              <a:t>typescript_property</a:t>
            </a:r>
            <a:r>
              <a:rPr lang="en-IN" dirty="0"/>
              <a:t>'&gt;</a:t>
            </a:r>
          </a:p>
          <a:p>
            <a:pPr algn="ctr"/>
            <a:endParaRPr lang="en-IN" dirty="0"/>
          </a:p>
          <a:p>
            <a:endParaRPr lang="en-IN" dirty="0"/>
          </a:p>
        </p:txBody>
      </p:sp>
    </p:spTree>
    <p:extLst>
      <p:ext uri="{BB962C8B-B14F-4D97-AF65-F5344CB8AC3E}">
        <p14:creationId xmlns:p14="http://schemas.microsoft.com/office/powerpoint/2010/main" val="3679058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059EA9-6AFE-673C-770E-32681FFABC00}"/>
              </a:ext>
            </a:extLst>
          </p:cNvPr>
          <p:cNvSpPr/>
          <p:nvPr/>
        </p:nvSpPr>
        <p:spPr>
          <a:xfrm>
            <a:off x="186612" y="251927"/>
            <a:ext cx="5206482" cy="60742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C5A8AACC-558A-5C72-B4AC-D7ECA6FFCF0B}"/>
              </a:ext>
            </a:extLst>
          </p:cNvPr>
          <p:cNvSpPr txBox="1"/>
          <p:nvPr/>
        </p:nvSpPr>
        <p:spPr>
          <a:xfrm>
            <a:off x="317241" y="382555"/>
            <a:ext cx="3956179" cy="5632311"/>
          </a:xfrm>
          <a:prstGeom prst="rect">
            <a:avLst/>
          </a:prstGeom>
          <a:noFill/>
        </p:spPr>
        <p:txBody>
          <a:bodyPr wrap="square" rtlCol="0">
            <a:spAutoFit/>
          </a:bodyPr>
          <a:lstStyle/>
          <a:p>
            <a:pPr fontAlgn="base"/>
            <a:r>
              <a:rPr lang="en-US" b="1" dirty="0"/>
              <a:t>Example </a:t>
            </a:r>
          </a:p>
          <a:p>
            <a:pPr fontAlgn="base"/>
            <a:endParaRPr lang="en-US" dirty="0"/>
          </a:p>
          <a:p>
            <a:pPr fontAlgn="base"/>
            <a:r>
              <a:rPr lang="en-US" dirty="0"/>
              <a:t>&lt;input style = "</a:t>
            </a:r>
            <a:r>
              <a:rPr lang="en-US" dirty="0" err="1"/>
              <a:t>color:green</a:t>
            </a:r>
            <a:r>
              <a:rPr lang="en-US" dirty="0"/>
              <a:t>;</a:t>
            </a:r>
          </a:p>
          <a:p>
            <a:pPr fontAlgn="base"/>
            <a:r>
              <a:rPr lang="en-US" dirty="0"/>
              <a:t>                margin-top: 40px; </a:t>
            </a:r>
          </a:p>
          <a:p>
            <a:pPr fontAlgn="base"/>
            <a:r>
              <a:rPr lang="en-US" dirty="0"/>
              <a:t>                margin-left: 100px;" </a:t>
            </a:r>
          </a:p>
          <a:p>
            <a:pPr fontAlgn="base"/>
            <a:r>
              <a:rPr lang="en-US" dirty="0"/>
              <a:t>[value]='title’&gt;</a:t>
            </a:r>
          </a:p>
          <a:p>
            <a:endParaRPr lang="en-IN" dirty="0"/>
          </a:p>
          <a:p>
            <a:endParaRPr lang="en-IN" dirty="0"/>
          </a:p>
          <a:p>
            <a:endParaRPr lang="en-IN" dirty="0"/>
          </a:p>
          <a:p>
            <a:pPr fontAlgn="base"/>
            <a:r>
              <a:rPr lang="en-IN" b="1" dirty="0"/>
              <a:t>import</a:t>
            </a:r>
            <a:r>
              <a:rPr lang="en-IN" dirty="0"/>
              <a:t> { Component } </a:t>
            </a:r>
            <a:r>
              <a:rPr lang="en-IN" b="1" dirty="0"/>
              <a:t>from</a:t>
            </a:r>
            <a:r>
              <a:rPr lang="en-IN" dirty="0"/>
              <a:t> '@angular/core';    </a:t>
            </a:r>
          </a:p>
          <a:p>
            <a:pPr fontAlgn="base"/>
            <a:r>
              <a:rPr lang="en-IN" dirty="0"/>
              <a:t>@Component({    </a:t>
            </a:r>
          </a:p>
          <a:p>
            <a:pPr fontAlgn="base"/>
            <a:r>
              <a:rPr lang="en-IN" dirty="0"/>
              <a:t>  selector: 'app-root',    </a:t>
            </a:r>
          </a:p>
          <a:p>
            <a:pPr fontAlgn="base"/>
            <a:r>
              <a:rPr lang="en-IN" dirty="0"/>
              <a:t>  </a:t>
            </a:r>
            <a:r>
              <a:rPr lang="en-IN" dirty="0" err="1"/>
              <a:t>templateUrl</a:t>
            </a:r>
            <a:r>
              <a:rPr lang="en-IN" dirty="0"/>
              <a:t>: './app.component.html',    </a:t>
            </a:r>
          </a:p>
          <a:p>
            <a:pPr fontAlgn="base"/>
            <a:r>
              <a:rPr lang="en-IN" dirty="0"/>
              <a:t>  </a:t>
            </a:r>
            <a:r>
              <a:rPr lang="en-IN" dirty="0" err="1"/>
              <a:t>styleUrls</a:t>
            </a:r>
            <a:r>
              <a:rPr lang="en-IN" dirty="0"/>
              <a:t>: ['./app.component.css']    </a:t>
            </a:r>
          </a:p>
          <a:p>
            <a:pPr fontAlgn="base"/>
            <a:r>
              <a:rPr lang="en-IN" dirty="0"/>
              <a:t>})    </a:t>
            </a:r>
          </a:p>
          <a:p>
            <a:pPr fontAlgn="base"/>
            <a:r>
              <a:rPr lang="en-IN" b="1" dirty="0"/>
              <a:t>export</a:t>
            </a:r>
            <a:r>
              <a:rPr lang="en-IN" dirty="0"/>
              <a:t> </a:t>
            </a:r>
            <a:r>
              <a:rPr lang="en-IN" b="1" dirty="0"/>
              <a:t>class</a:t>
            </a:r>
            <a:r>
              <a:rPr lang="en-IN" dirty="0"/>
              <a:t> </a:t>
            </a:r>
            <a:r>
              <a:rPr lang="en-IN" dirty="0" err="1"/>
              <a:t>AppComponent</a:t>
            </a:r>
            <a:r>
              <a:rPr lang="en-IN" dirty="0"/>
              <a:t> {   </a:t>
            </a:r>
          </a:p>
          <a:p>
            <a:pPr fontAlgn="base"/>
            <a:r>
              <a:rPr lang="en-IN" dirty="0"/>
              <a:t>  title = '</a:t>
            </a:r>
            <a:r>
              <a:rPr lang="en-IN" dirty="0" err="1"/>
              <a:t>GeeksforGeeks</a:t>
            </a:r>
            <a:r>
              <a:rPr lang="en-IN" dirty="0"/>
              <a:t>'; </a:t>
            </a:r>
          </a:p>
          <a:p>
            <a:pPr fontAlgn="base"/>
            <a:r>
              <a:rPr lang="en-IN" dirty="0"/>
              <a:t>}   </a:t>
            </a:r>
          </a:p>
          <a:p>
            <a:endParaRPr lang="en-IN" dirty="0"/>
          </a:p>
        </p:txBody>
      </p:sp>
      <p:sp>
        <p:nvSpPr>
          <p:cNvPr id="4" name="Rectangle 3">
            <a:extLst>
              <a:ext uri="{FF2B5EF4-FFF2-40B4-BE49-F238E27FC236}">
                <a16:creationId xmlns:a16="http://schemas.microsoft.com/office/drawing/2014/main" id="{0C0B28A1-0B26-B765-E42D-926DBE2B54DE}"/>
              </a:ext>
            </a:extLst>
          </p:cNvPr>
          <p:cNvSpPr/>
          <p:nvPr/>
        </p:nvSpPr>
        <p:spPr>
          <a:xfrm>
            <a:off x="5654351" y="251927"/>
            <a:ext cx="6220408" cy="27159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E538ADF1-5318-704C-86C2-55D942DBB9E8}"/>
              </a:ext>
            </a:extLst>
          </p:cNvPr>
          <p:cNvSpPr txBox="1"/>
          <p:nvPr/>
        </p:nvSpPr>
        <p:spPr>
          <a:xfrm>
            <a:off x="5747657" y="382555"/>
            <a:ext cx="6680719" cy="2585323"/>
          </a:xfrm>
          <a:prstGeom prst="rect">
            <a:avLst/>
          </a:prstGeom>
          <a:noFill/>
        </p:spPr>
        <p:txBody>
          <a:bodyPr wrap="square" rtlCol="0">
            <a:spAutoFit/>
          </a:bodyPr>
          <a:lstStyle/>
          <a:p>
            <a:r>
              <a:rPr lang="en-IN" dirty="0"/>
              <a:t>&lt;</a:t>
            </a:r>
            <a:r>
              <a:rPr lang="en-IN" b="1" dirty="0" err="1"/>
              <a:t>img</a:t>
            </a:r>
            <a:r>
              <a:rPr lang="en-IN" dirty="0"/>
              <a:t> [</a:t>
            </a:r>
            <a:r>
              <a:rPr lang="en-IN" dirty="0" err="1"/>
              <a:t>src</a:t>
            </a:r>
            <a:r>
              <a:rPr lang="en-IN" dirty="0"/>
              <a:t>]='</a:t>
            </a:r>
            <a:r>
              <a:rPr lang="en-IN" dirty="0" err="1"/>
              <a:t>src</a:t>
            </a:r>
            <a:r>
              <a:rPr lang="en-IN" dirty="0"/>
              <a:t>’&gt;</a:t>
            </a:r>
          </a:p>
          <a:p>
            <a:endParaRPr lang="en-IN" dirty="0"/>
          </a:p>
          <a:p>
            <a:endParaRPr lang="en-IN" dirty="0"/>
          </a:p>
          <a:p>
            <a:pPr fontAlgn="base"/>
            <a:r>
              <a:rPr lang="en-IN" dirty="0"/>
              <a:t>@Component({})    </a:t>
            </a:r>
          </a:p>
          <a:p>
            <a:pPr fontAlgn="base"/>
            <a:r>
              <a:rPr lang="en-IN" b="1" dirty="0"/>
              <a:t>export</a:t>
            </a:r>
            <a:r>
              <a:rPr lang="en-IN" dirty="0"/>
              <a:t> </a:t>
            </a:r>
            <a:r>
              <a:rPr lang="en-IN" b="1" dirty="0"/>
              <a:t>class</a:t>
            </a:r>
            <a:r>
              <a:rPr lang="en-IN" dirty="0"/>
              <a:t> </a:t>
            </a:r>
            <a:r>
              <a:rPr lang="en-IN" dirty="0" err="1"/>
              <a:t>AppComponent</a:t>
            </a:r>
            <a:r>
              <a:rPr lang="en-IN" dirty="0"/>
              <a:t> {   </a:t>
            </a:r>
          </a:p>
          <a:p>
            <a:pPr fontAlgn="base"/>
            <a:r>
              <a:rPr lang="en-IN" dirty="0"/>
              <a:t>  </a:t>
            </a:r>
            <a:r>
              <a:rPr lang="en-IN" dirty="0" err="1"/>
              <a:t>src</a:t>
            </a:r>
            <a:r>
              <a:rPr lang="en-IN" dirty="0"/>
              <a:t> = 'https://www.geeksforgeeks.org/wp-content/uploads/gfg_200X200-1.png'; </a:t>
            </a:r>
          </a:p>
          <a:p>
            <a:pPr fontAlgn="base"/>
            <a:r>
              <a:rPr lang="en-IN" dirty="0"/>
              <a:t>}   </a:t>
            </a:r>
          </a:p>
          <a:p>
            <a:endParaRPr lang="en-IN" dirty="0"/>
          </a:p>
        </p:txBody>
      </p:sp>
      <p:sp>
        <p:nvSpPr>
          <p:cNvPr id="6" name="Rectangle 5">
            <a:extLst>
              <a:ext uri="{FF2B5EF4-FFF2-40B4-BE49-F238E27FC236}">
                <a16:creationId xmlns:a16="http://schemas.microsoft.com/office/drawing/2014/main" id="{7A3B9120-9EAE-CE2C-32C5-FC54F28D665D}"/>
              </a:ext>
            </a:extLst>
          </p:cNvPr>
          <p:cNvSpPr/>
          <p:nvPr/>
        </p:nvSpPr>
        <p:spPr>
          <a:xfrm>
            <a:off x="5654351" y="3610204"/>
            <a:ext cx="6220408" cy="27159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9" name="TextBox 8">
            <a:extLst>
              <a:ext uri="{FF2B5EF4-FFF2-40B4-BE49-F238E27FC236}">
                <a16:creationId xmlns:a16="http://schemas.microsoft.com/office/drawing/2014/main" id="{25C2D022-F25F-6E9B-E69C-DA8C4E3B085C}"/>
              </a:ext>
            </a:extLst>
          </p:cNvPr>
          <p:cNvSpPr txBox="1"/>
          <p:nvPr/>
        </p:nvSpPr>
        <p:spPr>
          <a:xfrm>
            <a:off x="5747657" y="3722914"/>
            <a:ext cx="6596743" cy="2308324"/>
          </a:xfrm>
          <a:prstGeom prst="rect">
            <a:avLst/>
          </a:prstGeom>
          <a:noFill/>
        </p:spPr>
        <p:txBody>
          <a:bodyPr wrap="square" rtlCol="0">
            <a:spAutoFit/>
          </a:bodyPr>
          <a:lstStyle/>
          <a:p>
            <a:r>
              <a:rPr lang="en-US" dirty="0"/>
              <a:t>&lt;button [disabled]='bool' style="margin-top: 20px;"&gt;</a:t>
            </a:r>
            <a:r>
              <a:rPr lang="en-US" dirty="0" err="1"/>
              <a:t>GeekyButton</a:t>
            </a:r>
            <a:r>
              <a:rPr lang="en-US" dirty="0"/>
              <a:t>&lt;/button&gt;</a:t>
            </a:r>
          </a:p>
          <a:p>
            <a:endParaRPr lang="en-US" dirty="0"/>
          </a:p>
          <a:p>
            <a:pPr fontAlgn="base"/>
            <a:r>
              <a:rPr lang="en-IN" dirty="0"/>
              <a:t>@Component({})    </a:t>
            </a:r>
          </a:p>
          <a:p>
            <a:pPr fontAlgn="base"/>
            <a:r>
              <a:rPr lang="en-IN" b="1" dirty="0"/>
              <a:t>export</a:t>
            </a:r>
            <a:r>
              <a:rPr lang="en-IN" dirty="0"/>
              <a:t> </a:t>
            </a:r>
            <a:r>
              <a:rPr lang="en-IN" b="1" dirty="0"/>
              <a:t>class</a:t>
            </a:r>
            <a:r>
              <a:rPr lang="en-IN" dirty="0"/>
              <a:t> </a:t>
            </a:r>
            <a:r>
              <a:rPr lang="en-IN" dirty="0" err="1"/>
              <a:t>AppComponent</a:t>
            </a:r>
            <a:r>
              <a:rPr lang="en-IN" dirty="0"/>
              <a:t> {   </a:t>
            </a:r>
          </a:p>
          <a:p>
            <a:pPr fontAlgn="base"/>
            <a:r>
              <a:rPr lang="en-IN" dirty="0"/>
              <a:t>  bool = 'true'; </a:t>
            </a:r>
          </a:p>
          <a:p>
            <a:pPr fontAlgn="base"/>
            <a:r>
              <a:rPr lang="en-IN" dirty="0"/>
              <a:t>}   </a:t>
            </a:r>
          </a:p>
          <a:p>
            <a:endParaRPr lang="en-IN" dirty="0"/>
          </a:p>
        </p:txBody>
      </p:sp>
    </p:spTree>
    <p:extLst>
      <p:ext uri="{BB962C8B-B14F-4D97-AF65-F5344CB8AC3E}">
        <p14:creationId xmlns:p14="http://schemas.microsoft.com/office/powerpoint/2010/main" val="1805185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3234" y="991888"/>
            <a:ext cx="11415480" cy="3537081"/>
          </a:xfrm>
          <a:prstGeom prst="rect">
            <a:avLst/>
          </a:prstGeom>
        </p:spPr>
      </p:pic>
    </p:spTree>
    <p:extLst>
      <p:ext uri="{BB962C8B-B14F-4D97-AF65-F5344CB8AC3E}">
        <p14:creationId xmlns:p14="http://schemas.microsoft.com/office/powerpoint/2010/main" val="3062134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841" y="283779"/>
            <a:ext cx="11445766" cy="1200329"/>
          </a:xfrm>
          <a:prstGeom prst="rect">
            <a:avLst/>
          </a:prstGeom>
          <a:noFill/>
        </p:spPr>
        <p:txBody>
          <a:bodyPr wrap="square" rtlCol="0">
            <a:spAutoFit/>
          </a:bodyPr>
          <a:lstStyle/>
          <a:p>
            <a:r>
              <a:rPr lang="en-US" dirty="0"/>
              <a:t>Exercises</a:t>
            </a:r>
          </a:p>
          <a:p>
            <a:endParaRPr lang="en-US" dirty="0"/>
          </a:p>
          <a:p>
            <a:endParaRPr lang="en-US" dirty="0"/>
          </a:p>
          <a:p>
            <a:endParaRPr lang="en-US" dirty="0"/>
          </a:p>
        </p:txBody>
      </p:sp>
      <p:pic>
        <p:nvPicPr>
          <p:cNvPr id="3" name="Picture 2"/>
          <p:cNvPicPr>
            <a:picLocks noChangeAspect="1"/>
          </p:cNvPicPr>
          <p:nvPr/>
        </p:nvPicPr>
        <p:blipFill>
          <a:blip r:embed="rId2"/>
          <a:stretch>
            <a:fillRect/>
          </a:stretch>
        </p:blipFill>
        <p:spPr>
          <a:xfrm>
            <a:off x="346841" y="883943"/>
            <a:ext cx="6216727" cy="997409"/>
          </a:xfrm>
          <a:prstGeom prst="rect">
            <a:avLst/>
          </a:prstGeom>
        </p:spPr>
      </p:pic>
      <p:pic>
        <p:nvPicPr>
          <p:cNvPr id="4" name="Picture 3"/>
          <p:cNvPicPr>
            <a:picLocks noChangeAspect="1"/>
          </p:cNvPicPr>
          <p:nvPr/>
        </p:nvPicPr>
        <p:blipFill>
          <a:blip r:embed="rId3"/>
          <a:stretch>
            <a:fillRect/>
          </a:stretch>
        </p:blipFill>
        <p:spPr>
          <a:xfrm>
            <a:off x="346841" y="2161518"/>
            <a:ext cx="6453352" cy="2740940"/>
          </a:xfrm>
          <a:prstGeom prst="rect">
            <a:avLst/>
          </a:prstGeom>
        </p:spPr>
      </p:pic>
      <p:sp>
        <p:nvSpPr>
          <p:cNvPr id="5" name="TextBox 4"/>
          <p:cNvSpPr txBox="1"/>
          <p:nvPr/>
        </p:nvSpPr>
        <p:spPr>
          <a:xfrm>
            <a:off x="7683063" y="805567"/>
            <a:ext cx="4162096" cy="1754326"/>
          </a:xfrm>
          <a:prstGeom prst="rect">
            <a:avLst/>
          </a:prstGeom>
          <a:noFill/>
        </p:spPr>
        <p:txBody>
          <a:bodyPr wrap="square" rtlCol="0">
            <a:spAutoFit/>
          </a:bodyPr>
          <a:lstStyle/>
          <a:p>
            <a:r>
              <a:rPr lang="en-US" dirty="0"/>
              <a:t>Create two new Components (manually or with CLI): </a:t>
            </a:r>
            <a:r>
              <a:rPr lang="en-US" dirty="0" err="1"/>
              <a:t>WarningAlert</a:t>
            </a:r>
            <a:r>
              <a:rPr lang="en-US" dirty="0"/>
              <a:t> and </a:t>
            </a:r>
            <a:r>
              <a:rPr lang="en-US" dirty="0" err="1"/>
              <a:t>SuccessAlert</a:t>
            </a:r>
            <a:endParaRPr lang="en-US" dirty="0"/>
          </a:p>
          <a:p>
            <a:endParaRPr lang="en-US" dirty="0"/>
          </a:p>
          <a:p>
            <a:r>
              <a:rPr lang="en-US" dirty="0"/>
              <a:t>Style the Components appropriately (maybe some red/ green text?)</a:t>
            </a:r>
          </a:p>
          <a:p>
            <a:endParaRPr lang="en-US" dirty="0"/>
          </a:p>
        </p:txBody>
      </p:sp>
    </p:spTree>
    <p:extLst>
      <p:ext uri="{BB962C8B-B14F-4D97-AF65-F5344CB8AC3E}">
        <p14:creationId xmlns:p14="http://schemas.microsoft.com/office/powerpoint/2010/main" val="3422501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3269" y="262759"/>
            <a:ext cx="9448800" cy="4801314"/>
          </a:xfrm>
          <a:prstGeom prst="rect">
            <a:avLst/>
          </a:prstGeom>
          <a:noFill/>
        </p:spPr>
        <p:txBody>
          <a:bodyPr wrap="square" rtlCol="0">
            <a:spAutoFit/>
          </a:bodyPr>
          <a:lstStyle/>
          <a:p>
            <a:r>
              <a:rPr lang="en-US" b="1" u="sng" dirty="0"/>
              <a:t>Event Binding</a:t>
            </a:r>
          </a:p>
          <a:p>
            <a:endParaRPr lang="en-US" dirty="0"/>
          </a:p>
          <a:p>
            <a:r>
              <a:rPr lang="en-US" dirty="0"/>
              <a:t>In an </a:t>
            </a:r>
            <a:r>
              <a:rPr lang="en-US" b="1" dirty="0"/>
              <a:t>event binding</a:t>
            </a:r>
            <a:r>
              <a:rPr lang="en-US" dirty="0"/>
              <a:t>, </a:t>
            </a:r>
            <a:r>
              <a:rPr lang="en-US" b="1" dirty="0"/>
              <a:t>Angular</a:t>
            </a:r>
            <a:r>
              <a:rPr lang="en-US" dirty="0"/>
              <a:t> sets up an </a:t>
            </a:r>
            <a:r>
              <a:rPr lang="en-US" b="1" dirty="0"/>
              <a:t>event handler</a:t>
            </a:r>
            <a:r>
              <a:rPr lang="en-US" dirty="0"/>
              <a:t> for the target </a:t>
            </a:r>
            <a:r>
              <a:rPr lang="en-US" b="1" dirty="0"/>
              <a:t>event</a:t>
            </a:r>
            <a:r>
              <a:rPr lang="en-US" dirty="0"/>
              <a:t>. When the </a:t>
            </a:r>
            <a:r>
              <a:rPr lang="en-US" b="1" dirty="0"/>
              <a:t>event</a:t>
            </a:r>
            <a:r>
              <a:rPr lang="en-US" dirty="0"/>
              <a:t> is raised, the </a:t>
            </a:r>
            <a:r>
              <a:rPr lang="en-US" b="1" dirty="0"/>
              <a:t>handler</a:t>
            </a:r>
            <a:r>
              <a:rPr lang="en-US" dirty="0"/>
              <a:t> executes the template statement. </a:t>
            </a:r>
          </a:p>
          <a:p>
            <a:endParaRPr lang="en-US" dirty="0"/>
          </a:p>
          <a:p>
            <a:endParaRPr lang="en-US" dirty="0"/>
          </a:p>
          <a:p>
            <a:r>
              <a:rPr lang="en-US" b="1" dirty="0"/>
              <a:t>&lt;button</a:t>
            </a:r>
            <a:r>
              <a:rPr lang="en-US" dirty="0"/>
              <a:t> class="</a:t>
            </a:r>
            <a:r>
              <a:rPr lang="en-US" dirty="0" err="1"/>
              <a:t>btn</a:t>
            </a:r>
            <a:r>
              <a:rPr lang="en-US" dirty="0"/>
              <a:t> </a:t>
            </a:r>
            <a:r>
              <a:rPr lang="en-US" dirty="0" err="1"/>
              <a:t>btn</a:t>
            </a:r>
            <a:r>
              <a:rPr lang="en-US" dirty="0"/>
              <a:t>-primary"  </a:t>
            </a:r>
          </a:p>
          <a:p>
            <a:r>
              <a:rPr lang="en-US" dirty="0"/>
              <a:t>        [disabled]="!</a:t>
            </a:r>
            <a:r>
              <a:rPr lang="en-US" dirty="0" err="1"/>
              <a:t>allowNewServer</a:t>
            </a:r>
            <a:r>
              <a:rPr lang="en-US" dirty="0"/>
              <a:t>"  </a:t>
            </a:r>
          </a:p>
          <a:p>
            <a:r>
              <a:rPr lang="en-US" dirty="0"/>
              <a:t>(click)=“</a:t>
            </a:r>
            <a:r>
              <a:rPr lang="en-US" dirty="0" err="1"/>
              <a:t>displayAlert</a:t>
            </a:r>
            <a:r>
              <a:rPr lang="en-US" dirty="0"/>
              <a:t>()"</a:t>
            </a:r>
            <a:r>
              <a:rPr lang="en-US" b="1" dirty="0"/>
              <a:t>&gt;</a:t>
            </a:r>
            <a:r>
              <a:rPr lang="en-US" dirty="0"/>
              <a:t>Add Server</a:t>
            </a:r>
            <a:r>
              <a:rPr lang="en-US" b="1" dirty="0"/>
              <a:t>&lt;/button&gt;</a:t>
            </a:r>
            <a:r>
              <a:rPr lang="en-US" dirty="0"/>
              <a:t> </a:t>
            </a:r>
          </a:p>
          <a:p>
            <a:endParaRPr lang="en-US" dirty="0"/>
          </a:p>
          <a:p>
            <a:endParaRPr lang="en-US" dirty="0"/>
          </a:p>
          <a:p>
            <a:r>
              <a:rPr lang="en-US" dirty="0" err="1"/>
              <a:t>Ts</a:t>
            </a:r>
            <a:r>
              <a:rPr lang="en-US" dirty="0"/>
              <a:t> file</a:t>
            </a:r>
          </a:p>
          <a:p>
            <a:endParaRPr lang="en-US" dirty="0"/>
          </a:p>
          <a:p>
            <a:r>
              <a:rPr lang="en-US" dirty="0" err="1"/>
              <a:t>displaAlert</a:t>
            </a:r>
            <a:r>
              <a:rPr lang="en-US" dirty="0"/>
              <a:t>(){</a:t>
            </a:r>
          </a:p>
          <a:p>
            <a:r>
              <a:rPr lang="en-US" dirty="0"/>
              <a:t>Alert(“Ok done”);</a:t>
            </a:r>
          </a:p>
          <a:p>
            <a:r>
              <a:rPr lang="en-US" dirty="0"/>
              <a:t>}</a:t>
            </a:r>
          </a:p>
          <a:p>
            <a:endParaRPr lang="en-US" dirty="0"/>
          </a:p>
        </p:txBody>
      </p:sp>
    </p:spTree>
    <p:extLst>
      <p:ext uri="{BB962C8B-B14F-4D97-AF65-F5344CB8AC3E}">
        <p14:creationId xmlns:p14="http://schemas.microsoft.com/office/powerpoint/2010/main" val="3181206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43087" y="2490787"/>
            <a:ext cx="8505825" cy="1876425"/>
          </a:xfrm>
          <a:prstGeom prst="rect">
            <a:avLst/>
          </a:prstGeom>
        </p:spPr>
      </p:pic>
      <p:sp>
        <p:nvSpPr>
          <p:cNvPr id="3" name="TextBox 2"/>
          <p:cNvSpPr txBox="1"/>
          <p:nvPr/>
        </p:nvSpPr>
        <p:spPr>
          <a:xfrm>
            <a:off x="567559" y="504497"/>
            <a:ext cx="7977351" cy="369332"/>
          </a:xfrm>
          <a:prstGeom prst="rect">
            <a:avLst/>
          </a:prstGeom>
          <a:noFill/>
        </p:spPr>
        <p:txBody>
          <a:bodyPr wrap="square" rtlCol="0">
            <a:spAutoFit/>
          </a:bodyPr>
          <a:lstStyle/>
          <a:p>
            <a:r>
              <a:rPr lang="en-US" dirty="0" err="1"/>
              <a:t>W.a.p</a:t>
            </a:r>
            <a:r>
              <a:rPr lang="en-US" dirty="0"/>
              <a:t> to display this action</a:t>
            </a:r>
          </a:p>
        </p:txBody>
      </p:sp>
      <p:sp>
        <p:nvSpPr>
          <p:cNvPr id="4" name="TextBox 3">
            <a:extLst>
              <a:ext uri="{FF2B5EF4-FFF2-40B4-BE49-F238E27FC236}">
                <a16:creationId xmlns:a16="http://schemas.microsoft.com/office/drawing/2014/main" id="{8E2852F4-2C42-76A3-BE6B-7814E3907BD8}"/>
              </a:ext>
            </a:extLst>
          </p:cNvPr>
          <p:cNvSpPr txBox="1"/>
          <p:nvPr/>
        </p:nvSpPr>
        <p:spPr>
          <a:xfrm>
            <a:off x="6096000" y="504497"/>
            <a:ext cx="5391705" cy="2031325"/>
          </a:xfrm>
          <a:prstGeom prst="rect">
            <a:avLst/>
          </a:prstGeom>
          <a:noFill/>
        </p:spPr>
        <p:txBody>
          <a:bodyPr wrap="square" rtlCol="0">
            <a:spAutoFit/>
          </a:bodyPr>
          <a:lstStyle/>
          <a:p>
            <a:r>
              <a:rPr lang="en-IN" dirty="0"/>
              <a:t>  Enter </a:t>
            </a:r>
            <a:r>
              <a:rPr lang="en-IN" dirty="0" err="1"/>
              <a:t>Yourname</a:t>
            </a:r>
            <a:r>
              <a:rPr lang="en-IN" dirty="0"/>
              <a:t>&lt;input type="text" [(</a:t>
            </a:r>
            <a:r>
              <a:rPr lang="en-IN" dirty="0" err="1"/>
              <a:t>ngModel</a:t>
            </a:r>
            <a:r>
              <a:rPr lang="en-IN" dirty="0"/>
              <a:t>)]="username" &gt;&lt;</a:t>
            </a:r>
            <a:r>
              <a:rPr lang="en-IN" dirty="0" err="1"/>
              <a:t>br</a:t>
            </a:r>
            <a:r>
              <a:rPr lang="en-IN" dirty="0"/>
              <a:t>&gt;</a:t>
            </a:r>
          </a:p>
          <a:p>
            <a:r>
              <a:rPr lang="en-IN" dirty="0"/>
              <a:t>  &lt;button class="</a:t>
            </a:r>
            <a:r>
              <a:rPr lang="en-IN" dirty="0" err="1"/>
              <a:t>btn</a:t>
            </a:r>
            <a:r>
              <a:rPr lang="en-IN" dirty="0"/>
              <a:t> </a:t>
            </a:r>
            <a:r>
              <a:rPr lang="en-IN" dirty="0" err="1"/>
              <a:t>btn</a:t>
            </a:r>
            <a:r>
              <a:rPr lang="en-IN" dirty="0"/>
              <a:t>-info" (click)="</a:t>
            </a:r>
            <a:r>
              <a:rPr lang="en-IN" dirty="0" err="1"/>
              <a:t>resetUsername</a:t>
            </a:r>
            <a:r>
              <a:rPr lang="en-IN" dirty="0"/>
              <a:t>()"&gt;Reset&lt;/button&gt;</a:t>
            </a:r>
          </a:p>
          <a:p>
            <a:br>
              <a:rPr lang="en-IN" dirty="0"/>
            </a:br>
            <a:endParaRPr lang="en-IN" dirty="0"/>
          </a:p>
          <a:p>
            <a:endParaRPr lang="en-IN" dirty="0"/>
          </a:p>
        </p:txBody>
      </p:sp>
      <p:sp>
        <p:nvSpPr>
          <p:cNvPr id="5" name="TextBox 4">
            <a:extLst>
              <a:ext uri="{FF2B5EF4-FFF2-40B4-BE49-F238E27FC236}">
                <a16:creationId xmlns:a16="http://schemas.microsoft.com/office/drawing/2014/main" id="{679A27AF-887D-1630-930E-6332FE478ABF}"/>
              </a:ext>
            </a:extLst>
          </p:cNvPr>
          <p:cNvSpPr txBox="1"/>
          <p:nvPr/>
        </p:nvSpPr>
        <p:spPr>
          <a:xfrm>
            <a:off x="6169981" y="3959441"/>
            <a:ext cx="4616388" cy="2394062"/>
          </a:xfrm>
          <a:prstGeom prst="rect">
            <a:avLst/>
          </a:prstGeom>
          <a:noFill/>
        </p:spPr>
        <p:txBody>
          <a:bodyPr wrap="square" rtlCol="0">
            <a:spAutoFit/>
          </a:bodyPr>
          <a:lstStyle/>
          <a:p>
            <a:endParaRPr lang="en-IN" dirty="0"/>
          </a:p>
        </p:txBody>
      </p:sp>
      <p:sp>
        <p:nvSpPr>
          <p:cNvPr id="6" name="TextBox 5">
            <a:extLst>
              <a:ext uri="{FF2B5EF4-FFF2-40B4-BE49-F238E27FC236}">
                <a16:creationId xmlns:a16="http://schemas.microsoft.com/office/drawing/2014/main" id="{FCC44CD0-C7C8-FDDA-DA3C-0EEDE7A7408C}"/>
              </a:ext>
            </a:extLst>
          </p:cNvPr>
          <p:cNvSpPr txBox="1"/>
          <p:nvPr/>
        </p:nvSpPr>
        <p:spPr>
          <a:xfrm>
            <a:off x="6095999" y="3598783"/>
            <a:ext cx="4616388" cy="1754326"/>
          </a:xfrm>
          <a:prstGeom prst="rect">
            <a:avLst/>
          </a:prstGeom>
          <a:noFill/>
        </p:spPr>
        <p:txBody>
          <a:bodyPr wrap="square" rtlCol="0">
            <a:spAutoFit/>
          </a:bodyPr>
          <a:lstStyle/>
          <a:p>
            <a:br>
              <a:rPr lang="en-IN" dirty="0"/>
            </a:br>
            <a:r>
              <a:rPr lang="en-IN" dirty="0" err="1"/>
              <a:t>username:string</a:t>
            </a:r>
            <a:r>
              <a:rPr lang="en-IN" dirty="0"/>
              <a:t>=""</a:t>
            </a:r>
          </a:p>
          <a:p>
            <a:r>
              <a:rPr lang="en-IN" dirty="0"/>
              <a:t>  </a:t>
            </a:r>
            <a:r>
              <a:rPr lang="en-IN" dirty="0" err="1"/>
              <a:t>resetUsername</a:t>
            </a:r>
            <a:r>
              <a:rPr lang="en-IN" dirty="0"/>
              <a:t>():void{</a:t>
            </a:r>
          </a:p>
          <a:p>
            <a:r>
              <a:rPr lang="en-IN" dirty="0"/>
              <a:t>    </a:t>
            </a:r>
            <a:r>
              <a:rPr lang="en-IN" dirty="0" err="1"/>
              <a:t>this.username</a:t>
            </a:r>
            <a:r>
              <a:rPr lang="en-IN" dirty="0"/>
              <a:t>="";</a:t>
            </a:r>
          </a:p>
          <a:p>
            <a:r>
              <a:rPr lang="en-IN"/>
              <a:t>  }</a:t>
            </a:r>
          </a:p>
          <a:p>
            <a:endParaRPr lang="en-IN" dirty="0"/>
          </a:p>
        </p:txBody>
      </p:sp>
    </p:spTree>
    <p:extLst>
      <p:ext uri="{BB962C8B-B14F-4D97-AF65-F5344CB8AC3E}">
        <p14:creationId xmlns:p14="http://schemas.microsoft.com/office/powerpoint/2010/main" val="2878474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Directives</a:t>
            </a:r>
          </a:p>
        </p:txBody>
      </p:sp>
    </p:spTree>
    <p:extLst>
      <p:ext uri="{BB962C8B-B14F-4D97-AF65-F5344CB8AC3E}">
        <p14:creationId xmlns:p14="http://schemas.microsoft.com/office/powerpoint/2010/main" val="1321267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5821" y="451945"/>
            <a:ext cx="11235558" cy="3970318"/>
          </a:xfrm>
          <a:prstGeom prst="rect">
            <a:avLst/>
          </a:prstGeom>
          <a:noFill/>
        </p:spPr>
        <p:txBody>
          <a:bodyPr wrap="square" rtlCol="0">
            <a:spAutoFit/>
          </a:bodyPr>
          <a:lstStyle/>
          <a:p>
            <a:r>
              <a:rPr lang="en-US" dirty="0"/>
              <a:t>Directives are instructions in the </a:t>
            </a:r>
            <a:r>
              <a:rPr lang="en-US" b="1" dirty="0"/>
              <a:t>DOM</a:t>
            </a:r>
            <a:r>
              <a:rPr lang="en-US" dirty="0"/>
              <a:t> (Document Object Model). It specifies how to place our business logic in Angular.</a:t>
            </a:r>
          </a:p>
          <a:p>
            <a:endParaRPr lang="en-US" dirty="0"/>
          </a:p>
          <a:p>
            <a:r>
              <a:rPr lang="en-US" dirty="0"/>
              <a:t>By using Angular directives, you can change the appearance, behavior or a layout of a DOM element. It also helps you to extend HTML.</a:t>
            </a:r>
          </a:p>
          <a:p>
            <a:endParaRPr lang="en-US" dirty="0"/>
          </a:p>
          <a:p>
            <a:endParaRPr lang="en-US" dirty="0"/>
          </a:p>
          <a:p>
            <a:endParaRPr lang="en-US" dirty="0"/>
          </a:p>
          <a:p>
            <a:r>
              <a:rPr lang="en-US" dirty="0"/>
              <a:t>There are three kinds of directives:</a:t>
            </a:r>
          </a:p>
          <a:p>
            <a:r>
              <a:rPr lang="en-US" b="1" dirty="0"/>
              <a:t>1. Component Directives</a:t>
            </a:r>
            <a:endParaRPr lang="en-US" dirty="0"/>
          </a:p>
          <a:p>
            <a:r>
              <a:rPr lang="en-US" b="1" dirty="0"/>
              <a:t>2. Structural Directives</a:t>
            </a:r>
            <a:endParaRPr lang="en-US" dirty="0"/>
          </a:p>
          <a:p>
            <a:r>
              <a:rPr lang="en-US" b="1" dirty="0"/>
              <a:t>3. Attribute Directives</a:t>
            </a:r>
            <a:endParaRPr lang="en-US" dirty="0"/>
          </a:p>
          <a:p>
            <a:br>
              <a:rPr lang="en-US" dirty="0"/>
            </a:br>
            <a:endParaRPr lang="en-US" dirty="0"/>
          </a:p>
        </p:txBody>
      </p:sp>
      <p:pic>
        <p:nvPicPr>
          <p:cNvPr id="3" name="Picture 2"/>
          <p:cNvPicPr>
            <a:picLocks noChangeAspect="1"/>
          </p:cNvPicPr>
          <p:nvPr/>
        </p:nvPicPr>
        <p:blipFill>
          <a:blip r:embed="rId2"/>
          <a:stretch>
            <a:fillRect/>
          </a:stretch>
        </p:blipFill>
        <p:spPr>
          <a:xfrm>
            <a:off x="5250902" y="3149655"/>
            <a:ext cx="3371850" cy="2828925"/>
          </a:xfrm>
          <a:prstGeom prst="rect">
            <a:avLst/>
          </a:prstGeom>
        </p:spPr>
      </p:pic>
    </p:spTree>
    <p:extLst>
      <p:ext uri="{BB962C8B-B14F-4D97-AF65-F5344CB8AC3E}">
        <p14:creationId xmlns:p14="http://schemas.microsoft.com/office/powerpoint/2010/main" val="2679821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248" y="304800"/>
            <a:ext cx="11435255" cy="2308324"/>
          </a:xfrm>
          <a:prstGeom prst="rect">
            <a:avLst/>
          </a:prstGeom>
          <a:noFill/>
        </p:spPr>
        <p:txBody>
          <a:bodyPr wrap="square" rtlCol="0">
            <a:spAutoFit/>
          </a:bodyPr>
          <a:lstStyle/>
          <a:p>
            <a:r>
              <a:rPr lang="en-US" b="1" dirty="0"/>
              <a:t>Component Directives</a:t>
            </a:r>
          </a:p>
          <a:p>
            <a:endParaRPr lang="en-US" dirty="0"/>
          </a:p>
          <a:p>
            <a:r>
              <a:rPr lang="en-US" dirty="0"/>
              <a:t>Components are the most common of the directives. </a:t>
            </a:r>
          </a:p>
          <a:p>
            <a:endParaRPr lang="en-US" dirty="0"/>
          </a:p>
          <a:p>
            <a:r>
              <a:rPr lang="en-US" dirty="0"/>
              <a:t>It contains the details of how the component should be processed, instantiated, and used at runtime. </a:t>
            </a:r>
          </a:p>
          <a:p>
            <a:endParaRPr lang="en-US" dirty="0"/>
          </a:p>
          <a:p>
            <a:r>
              <a:rPr lang="en-US" dirty="0"/>
              <a:t>The component comprises meta-data.</a:t>
            </a:r>
          </a:p>
          <a:p>
            <a:endParaRPr lang="en-US" dirty="0"/>
          </a:p>
        </p:txBody>
      </p:sp>
    </p:spTree>
    <p:extLst>
      <p:ext uri="{BB962C8B-B14F-4D97-AF65-F5344CB8AC3E}">
        <p14:creationId xmlns:p14="http://schemas.microsoft.com/office/powerpoint/2010/main" val="354383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4290" y="483476"/>
            <a:ext cx="11676993" cy="5078313"/>
          </a:xfrm>
          <a:prstGeom prst="rect">
            <a:avLst/>
          </a:prstGeom>
          <a:noFill/>
        </p:spPr>
        <p:txBody>
          <a:bodyPr wrap="square" rtlCol="0">
            <a:spAutoFit/>
          </a:bodyPr>
          <a:lstStyle/>
          <a:p>
            <a:r>
              <a:rPr lang="en-US" b="1" dirty="0"/>
              <a:t>Structural Directives</a:t>
            </a:r>
            <a:endParaRPr lang="en-US" dirty="0"/>
          </a:p>
          <a:p>
            <a:r>
              <a:rPr lang="en-US" dirty="0"/>
              <a:t> These directives are used to manipulate and change the structure of the DOM elements.</a:t>
            </a:r>
          </a:p>
          <a:p>
            <a:endParaRPr lang="en-US" dirty="0"/>
          </a:p>
          <a:p>
            <a:r>
              <a:rPr lang="en-US" dirty="0"/>
              <a:t> Structural directives have a star (*) sign before the directive. </a:t>
            </a:r>
          </a:p>
          <a:p>
            <a:endParaRPr lang="en-US" dirty="0"/>
          </a:p>
          <a:p>
            <a:r>
              <a:rPr lang="en-US" b="1" dirty="0"/>
              <a:t>Like as,* </a:t>
            </a:r>
            <a:r>
              <a:rPr lang="en-US" b="1" dirty="0" err="1"/>
              <a:t>ngIf</a:t>
            </a:r>
            <a:r>
              <a:rPr lang="en-US" dirty="0"/>
              <a:t>, </a:t>
            </a:r>
            <a:r>
              <a:rPr lang="en-US" b="1" dirty="0"/>
              <a:t>*</a:t>
            </a:r>
            <a:r>
              <a:rPr lang="en-US" b="1" dirty="0" err="1"/>
              <a:t>ngFor</a:t>
            </a:r>
            <a:r>
              <a:rPr lang="en-US" b="1" dirty="0"/>
              <a:t>, and *</a:t>
            </a:r>
            <a:r>
              <a:rPr lang="en-US" b="1" dirty="0" err="1"/>
              <a:t>ngSwitch</a:t>
            </a:r>
            <a:r>
              <a:rPr lang="en-US" b="1" dirty="0"/>
              <a:t> directive.</a:t>
            </a:r>
          </a:p>
          <a:p>
            <a:endParaRPr lang="en-US" dirty="0"/>
          </a:p>
          <a:p>
            <a:r>
              <a:rPr lang="en-US" b="1" dirty="0"/>
              <a:t>*</a:t>
            </a:r>
            <a:r>
              <a:rPr lang="en-US" b="1" dirty="0" err="1"/>
              <a:t>ngIf</a:t>
            </a:r>
            <a:r>
              <a:rPr lang="en-US" b="1" dirty="0"/>
              <a:t> Directive:</a:t>
            </a:r>
            <a:r>
              <a:rPr lang="en-US" dirty="0"/>
              <a:t> The *</a:t>
            </a:r>
            <a:r>
              <a:rPr lang="en-US" dirty="0" err="1"/>
              <a:t>ngIf</a:t>
            </a:r>
            <a:r>
              <a:rPr lang="en-US" dirty="0"/>
              <a:t> allows us to Add/Remove DOM Element.</a:t>
            </a:r>
          </a:p>
          <a:p>
            <a:endParaRPr lang="en-US" dirty="0"/>
          </a:p>
          <a:p>
            <a:endParaRPr lang="en-US" dirty="0"/>
          </a:p>
          <a:p>
            <a:endParaRPr lang="en-US" dirty="0"/>
          </a:p>
          <a:p>
            <a:r>
              <a:rPr lang="en-US" b="1" dirty="0"/>
              <a:t>*</a:t>
            </a:r>
            <a:r>
              <a:rPr lang="en-US" b="1" dirty="0" err="1"/>
              <a:t>ngSwitch</a:t>
            </a:r>
            <a:r>
              <a:rPr lang="en-US" b="1" dirty="0"/>
              <a:t> Directive:</a:t>
            </a:r>
            <a:r>
              <a:rPr lang="en-US" dirty="0"/>
              <a:t> The *</a:t>
            </a:r>
            <a:r>
              <a:rPr lang="en-US" dirty="0" err="1"/>
              <a:t>ngSwitch</a:t>
            </a:r>
            <a:r>
              <a:rPr lang="en-US" dirty="0"/>
              <a:t> will enable us to Add/Remove DOM element.</a:t>
            </a:r>
          </a:p>
          <a:p>
            <a:endParaRPr lang="en-US" dirty="0"/>
          </a:p>
          <a:p>
            <a:endParaRPr lang="en-US" dirty="0"/>
          </a:p>
          <a:p>
            <a:endParaRPr lang="en-US" dirty="0"/>
          </a:p>
          <a:p>
            <a:endParaRPr lang="en-US" dirty="0"/>
          </a:p>
          <a:p>
            <a:r>
              <a:rPr lang="en-US" b="1" dirty="0"/>
              <a:t>*</a:t>
            </a:r>
            <a:r>
              <a:rPr lang="en-US" b="1" dirty="0" err="1"/>
              <a:t>ngFor</a:t>
            </a:r>
            <a:r>
              <a:rPr lang="en-US" b="1" dirty="0"/>
              <a:t> Directive:</a:t>
            </a:r>
            <a:r>
              <a:rPr lang="en-US" dirty="0"/>
              <a:t> The *</a:t>
            </a:r>
            <a:r>
              <a:rPr lang="en-US" dirty="0" err="1"/>
              <a:t>ngFor</a:t>
            </a:r>
            <a:r>
              <a:rPr lang="en-US" dirty="0"/>
              <a:t> directive is used to repeat a part of HTML template once per each item</a:t>
            </a:r>
          </a:p>
          <a:p>
            <a:endParaRPr lang="en-US" dirty="0"/>
          </a:p>
        </p:txBody>
      </p:sp>
      <p:pic>
        <p:nvPicPr>
          <p:cNvPr id="3" name="Picture 2"/>
          <p:cNvPicPr>
            <a:picLocks noChangeAspect="1"/>
          </p:cNvPicPr>
          <p:nvPr/>
        </p:nvPicPr>
        <p:blipFill>
          <a:blip r:embed="rId2"/>
          <a:stretch>
            <a:fillRect/>
          </a:stretch>
        </p:blipFill>
        <p:spPr>
          <a:xfrm>
            <a:off x="6867196" y="1911035"/>
            <a:ext cx="4343400" cy="838200"/>
          </a:xfrm>
          <a:prstGeom prst="rect">
            <a:avLst/>
          </a:prstGeom>
        </p:spPr>
      </p:pic>
      <p:pic>
        <p:nvPicPr>
          <p:cNvPr id="4" name="Picture 3"/>
          <p:cNvPicPr>
            <a:picLocks noChangeAspect="1"/>
          </p:cNvPicPr>
          <p:nvPr/>
        </p:nvPicPr>
        <p:blipFill>
          <a:blip r:embed="rId3"/>
          <a:stretch>
            <a:fillRect/>
          </a:stretch>
        </p:blipFill>
        <p:spPr>
          <a:xfrm>
            <a:off x="8121539" y="3235462"/>
            <a:ext cx="3600450" cy="933450"/>
          </a:xfrm>
          <a:prstGeom prst="rect">
            <a:avLst/>
          </a:prstGeom>
        </p:spPr>
      </p:pic>
      <p:pic>
        <p:nvPicPr>
          <p:cNvPr id="5" name="Picture 4"/>
          <p:cNvPicPr>
            <a:picLocks noChangeAspect="1"/>
          </p:cNvPicPr>
          <p:nvPr/>
        </p:nvPicPr>
        <p:blipFill>
          <a:blip r:embed="rId4"/>
          <a:stretch>
            <a:fillRect/>
          </a:stretch>
        </p:blipFill>
        <p:spPr>
          <a:xfrm>
            <a:off x="8444569" y="5314591"/>
            <a:ext cx="3343377" cy="886512"/>
          </a:xfrm>
          <a:prstGeom prst="rect">
            <a:avLst/>
          </a:prstGeom>
        </p:spPr>
      </p:pic>
    </p:spTree>
    <p:extLst>
      <p:ext uri="{BB962C8B-B14F-4D97-AF65-F5344CB8AC3E}">
        <p14:creationId xmlns:p14="http://schemas.microsoft.com/office/powerpoint/2010/main" val="989701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CD855-2D64-F5A5-EFB0-CEAFBD0C4BC7}"/>
              </a:ext>
            </a:extLst>
          </p:cNvPr>
          <p:cNvSpPr txBox="1"/>
          <p:nvPr/>
        </p:nvSpPr>
        <p:spPr>
          <a:xfrm>
            <a:off x="363984" y="461639"/>
            <a:ext cx="9064101" cy="3970318"/>
          </a:xfrm>
          <a:prstGeom prst="rect">
            <a:avLst/>
          </a:prstGeom>
          <a:noFill/>
        </p:spPr>
        <p:txBody>
          <a:bodyPr wrap="square" rtlCol="0">
            <a:spAutoFit/>
          </a:bodyPr>
          <a:lstStyle/>
          <a:p>
            <a:br>
              <a:rPr lang="en-US" dirty="0"/>
            </a:br>
            <a:endParaRPr lang="en-US" dirty="0"/>
          </a:p>
          <a:p>
            <a:r>
              <a:rPr lang="en-US" dirty="0"/>
              <a:t>  @if(flag){</a:t>
            </a:r>
          </a:p>
          <a:p>
            <a:r>
              <a:rPr lang="en-US" dirty="0"/>
              <a:t>     &lt;p &gt;this is true </a:t>
            </a:r>
            <a:r>
              <a:rPr lang="en-US" dirty="0" err="1"/>
              <a:t>condtion</a:t>
            </a:r>
            <a:r>
              <a:rPr lang="en-US" dirty="0"/>
              <a:t>&lt;/p&gt;</a:t>
            </a:r>
          </a:p>
          <a:p>
            <a:r>
              <a:rPr lang="en-US" dirty="0"/>
              <a:t>  }@else{</a:t>
            </a:r>
          </a:p>
          <a:p>
            <a:r>
              <a:rPr lang="en-US" dirty="0"/>
              <a:t>    &lt;p&gt;this is false condition&lt;/p&gt;</a:t>
            </a:r>
          </a:p>
          <a:p>
            <a:r>
              <a:rPr lang="en-US" dirty="0"/>
              <a:t>  }</a:t>
            </a:r>
          </a:p>
          <a:p>
            <a:br>
              <a:rPr lang="en-US" dirty="0"/>
            </a:br>
            <a:endParaRPr lang="en-US" dirty="0"/>
          </a:p>
          <a:p>
            <a:r>
              <a:rPr lang="en-US" dirty="0"/>
              <a:t>  &lt;p *</a:t>
            </a:r>
            <a:r>
              <a:rPr lang="en-US" dirty="0" err="1"/>
              <a:t>ngIf</a:t>
            </a:r>
            <a:r>
              <a:rPr lang="en-US" dirty="0"/>
              <a:t>="flag; else </a:t>
            </a:r>
            <a:r>
              <a:rPr lang="en-US" dirty="0" err="1"/>
              <a:t>elseBlock</a:t>
            </a:r>
            <a:r>
              <a:rPr lang="en-US" dirty="0"/>
              <a:t>"&gt;this is </a:t>
            </a:r>
            <a:r>
              <a:rPr lang="en-US" dirty="0" err="1"/>
              <a:t>ngif</a:t>
            </a:r>
            <a:r>
              <a:rPr lang="en-US" dirty="0"/>
              <a:t> condition&lt;/p&gt;</a:t>
            </a:r>
          </a:p>
          <a:p>
            <a:br>
              <a:rPr lang="en-US" dirty="0"/>
            </a:br>
            <a:endParaRPr lang="en-US" dirty="0"/>
          </a:p>
          <a:p>
            <a:r>
              <a:rPr lang="en-US" dirty="0"/>
              <a:t>  &lt;ng-template #elseBlock&gt;this is </a:t>
            </a:r>
            <a:r>
              <a:rPr lang="en-US" dirty="0" err="1"/>
              <a:t>elseBlock</a:t>
            </a:r>
            <a:r>
              <a:rPr lang="en-US" dirty="0"/>
              <a:t> condition&lt;/ng-template&gt;</a:t>
            </a:r>
          </a:p>
          <a:p>
            <a:endParaRPr lang="en-IN" dirty="0"/>
          </a:p>
        </p:txBody>
      </p:sp>
      <p:sp>
        <p:nvSpPr>
          <p:cNvPr id="3" name="TextBox 2">
            <a:extLst>
              <a:ext uri="{FF2B5EF4-FFF2-40B4-BE49-F238E27FC236}">
                <a16:creationId xmlns:a16="http://schemas.microsoft.com/office/drawing/2014/main" id="{487EC618-3255-E410-DBC7-1BADC29D11FE}"/>
              </a:ext>
            </a:extLst>
          </p:cNvPr>
          <p:cNvSpPr txBox="1"/>
          <p:nvPr/>
        </p:nvSpPr>
        <p:spPr>
          <a:xfrm>
            <a:off x="7660433" y="1194317"/>
            <a:ext cx="4301412" cy="2031325"/>
          </a:xfrm>
          <a:prstGeom prst="rect">
            <a:avLst/>
          </a:prstGeom>
          <a:noFill/>
        </p:spPr>
        <p:txBody>
          <a:bodyPr wrap="square" rtlCol="0">
            <a:spAutoFit/>
          </a:bodyPr>
          <a:lstStyle/>
          <a:p>
            <a:r>
              <a:rPr lang="en-IN" b="1" dirty="0" err="1"/>
              <a:t>ngSwitch</a:t>
            </a:r>
            <a:endParaRPr lang="en-IN" b="1" dirty="0"/>
          </a:p>
          <a:p>
            <a:endParaRPr lang="en-IN" dirty="0"/>
          </a:p>
          <a:p>
            <a:r>
              <a:rPr lang="en-IN" dirty="0"/>
              <a:t>&lt;div [</a:t>
            </a:r>
            <a:r>
              <a:rPr lang="en-IN" dirty="0" err="1"/>
              <a:t>ngSwitch</a:t>
            </a:r>
            <a:r>
              <a:rPr lang="en-IN" dirty="0"/>
              <a:t>]="role"&gt;</a:t>
            </a:r>
          </a:p>
          <a:p>
            <a:r>
              <a:rPr lang="en-IN" dirty="0"/>
              <a:t>  &lt;p *</a:t>
            </a:r>
            <a:r>
              <a:rPr lang="en-IN" dirty="0" err="1"/>
              <a:t>ngSwitchCase</a:t>
            </a:r>
            <a:r>
              <a:rPr lang="en-IN" dirty="0"/>
              <a:t>="'admin'"&gt;Admin&lt;/p&gt;</a:t>
            </a:r>
          </a:p>
          <a:p>
            <a:r>
              <a:rPr lang="en-IN" dirty="0"/>
              <a:t>  &lt;p *</a:t>
            </a:r>
            <a:r>
              <a:rPr lang="en-IN" dirty="0" err="1"/>
              <a:t>ngSwitchDefault</a:t>
            </a:r>
            <a:r>
              <a:rPr lang="en-IN" dirty="0"/>
              <a:t>&gt;Guest&lt;/p&gt;</a:t>
            </a:r>
          </a:p>
          <a:p>
            <a:r>
              <a:rPr lang="en-IN" dirty="0"/>
              <a:t>&lt;/div&gt;</a:t>
            </a:r>
          </a:p>
          <a:p>
            <a:endParaRPr lang="en-IN" dirty="0"/>
          </a:p>
        </p:txBody>
      </p:sp>
    </p:spTree>
    <p:extLst>
      <p:ext uri="{BB962C8B-B14F-4D97-AF65-F5344CB8AC3E}">
        <p14:creationId xmlns:p14="http://schemas.microsoft.com/office/powerpoint/2010/main" val="287240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2759" y="441434"/>
            <a:ext cx="10478813" cy="5632311"/>
          </a:xfrm>
          <a:prstGeom prst="rect">
            <a:avLst/>
          </a:prstGeom>
          <a:noFill/>
        </p:spPr>
        <p:txBody>
          <a:bodyPr wrap="square" rtlCol="0">
            <a:spAutoFit/>
          </a:bodyPr>
          <a:lstStyle/>
          <a:p>
            <a:r>
              <a:rPr lang="en-US" dirty="0"/>
              <a:t>Attribute Directive</a:t>
            </a:r>
          </a:p>
          <a:p>
            <a:endParaRPr lang="en-US" dirty="0"/>
          </a:p>
          <a:p>
            <a:endParaRPr lang="en-US" dirty="0"/>
          </a:p>
          <a:p>
            <a:r>
              <a:rPr lang="en-US" dirty="0"/>
              <a:t>It deals with changing the look and behavior of the DOM element. For example: </a:t>
            </a:r>
            <a:r>
              <a:rPr lang="en-US" b="1" dirty="0" err="1"/>
              <a:t>ngClass</a:t>
            </a:r>
            <a:r>
              <a:rPr lang="en-US" dirty="0"/>
              <a:t>, </a:t>
            </a:r>
            <a:r>
              <a:rPr lang="en-US" b="1" dirty="0" err="1"/>
              <a:t>ngStyle</a:t>
            </a:r>
            <a:r>
              <a:rPr lang="en-US" dirty="0"/>
              <a:t> etc.</a:t>
            </a:r>
          </a:p>
          <a:p>
            <a:endParaRPr lang="en-US" dirty="0"/>
          </a:p>
          <a:p>
            <a:r>
              <a:rPr lang="en-US" b="1" dirty="0" err="1"/>
              <a:t>NgClass</a:t>
            </a:r>
            <a:r>
              <a:rPr lang="en-US" b="1" dirty="0"/>
              <a:t> Directive:</a:t>
            </a:r>
            <a:r>
              <a:rPr lang="en-US" dirty="0"/>
              <a:t> The </a:t>
            </a:r>
            <a:r>
              <a:rPr lang="en-US" dirty="0" err="1"/>
              <a:t>ngClass</a:t>
            </a:r>
            <a:r>
              <a:rPr lang="en-US" dirty="0"/>
              <a:t> Directive is used to add or remove CSS classes to an element.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u="sng" dirty="0" err="1"/>
              <a:t>ngStyle</a:t>
            </a:r>
            <a:r>
              <a:rPr lang="en-US" b="1" u="sng" dirty="0"/>
              <a:t> </a:t>
            </a:r>
          </a:p>
          <a:p>
            <a:r>
              <a:rPr lang="en-US" dirty="0"/>
              <a:t>The </a:t>
            </a:r>
            <a:r>
              <a:rPr lang="en-US" dirty="0" err="1"/>
              <a:t>ngStyle</a:t>
            </a:r>
            <a:r>
              <a:rPr lang="en-US" dirty="0"/>
              <a:t> Directive facilitates you to modify the style of an HTML</a:t>
            </a:r>
          </a:p>
          <a:p>
            <a:endParaRPr lang="en-US" dirty="0"/>
          </a:p>
          <a:p>
            <a:endParaRPr lang="en-US" dirty="0"/>
          </a:p>
          <a:p>
            <a:r>
              <a:rPr lang="en-US" dirty="0"/>
              <a:t>  </a:t>
            </a:r>
          </a:p>
          <a:p>
            <a:endParaRPr lang="en-US" dirty="0"/>
          </a:p>
        </p:txBody>
      </p:sp>
      <p:pic>
        <p:nvPicPr>
          <p:cNvPr id="4" name="Picture 3"/>
          <p:cNvPicPr>
            <a:picLocks noChangeAspect="1"/>
          </p:cNvPicPr>
          <p:nvPr/>
        </p:nvPicPr>
        <p:blipFill>
          <a:blip r:embed="rId2"/>
          <a:stretch>
            <a:fillRect/>
          </a:stretch>
        </p:blipFill>
        <p:spPr>
          <a:xfrm>
            <a:off x="262759" y="2416383"/>
            <a:ext cx="3143250" cy="333375"/>
          </a:xfrm>
          <a:prstGeom prst="rect">
            <a:avLst/>
          </a:prstGeom>
        </p:spPr>
      </p:pic>
      <p:pic>
        <p:nvPicPr>
          <p:cNvPr id="5" name="Picture 4"/>
          <p:cNvPicPr>
            <a:picLocks noChangeAspect="1"/>
          </p:cNvPicPr>
          <p:nvPr/>
        </p:nvPicPr>
        <p:blipFill>
          <a:blip r:embed="rId3"/>
          <a:stretch>
            <a:fillRect/>
          </a:stretch>
        </p:blipFill>
        <p:spPr>
          <a:xfrm>
            <a:off x="3943204" y="2278681"/>
            <a:ext cx="3324864" cy="608778"/>
          </a:xfrm>
          <a:prstGeom prst="rect">
            <a:avLst/>
          </a:prstGeom>
        </p:spPr>
      </p:pic>
      <p:pic>
        <p:nvPicPr>
          <p:cNvPr id="6" name="Picture 5"/>
          <p:cNvPicPr>
            <a:picLocks noChangeAspect="1"/>
          </p:cNvPicPr>
          <p:nvPr/>
        </p:nvPicPr>
        <p:blipFill>
          <a:blip r:embed="rId4"/>
          <a:stretch>
            <a:fillRect/>
          </a:stretch>
        </p:blipFill>
        <p:spPr>
          <a:xfrm>
            <a:off x="8187231" y="2278681"/>
            <a:ext cx="2228850" cy="1419225"/>
          </a:xfrm>
          <a:prstGeom prst="rect">
            <a:avLst/>
          </a:prstGeom>
        </p:spPr>
      </p:pic>
      <p:pic>
        <p:nvPicPr>
          <p:cNvPr id="7" name="Picture 6"/>
          <p:cNvPicPr>
            <a:picLocks noChangeAspect="1"/>
          </p:cNvPicPr>
          <p:nvPr/>
        </p:nvPicPr>
        <p:blipFill>
          <a:blip r:embed="rId5"/>
          <a:stretch>
            <a:fillRect/>
          </a:stretch>
        </p:blipFill>
        <p:spPr>
          <a:xfrm>
            <a:off x="262759" y="5275864"/>
            <a:ext cx="4905375" cy="552450"/>
          </a:xfrm>
          <a:prstGeom prst="rect">
            <a:avLst/>
          </a:prstGeom>
        </p:spPr>
      </p:pic>
    </p:spTree>
    <p:extLst>
      <p:ext uri="{BB962C8B-B14F-4D97-AF65-F5344CB8AC3E}">
        <p14:creationId xmlns:p14="http://schemas.microsoft.com/office/powerpoint/2010/main" val="3758100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883" y="283779"/>
            <a:ext cx="11561379" cy="3693319"/>
          </a:xfrm>
          <a:prstGeom prst="rect">
            <a:avLst/>
          </a:prstGeom>
          <a:noFill/>
        </p:spPr>
        <p:txBody>
          <a:bodyPr wrap="square" rtlCol="0">
            <a:spAutoFit/>
          </a:bodyPr>
          <a:lstStyle/>
          <a:p>
            <a:r>
              <a:rPr lang="en-US" dirty="0" err="1"/>
              <a:t>Practise</a:t>
            </a:r>
            <a:endParaRPr lang="en-US" dirty="0"/>
          </a:p>
          <a:p>
            <a:endParaRPr lang="en-US" dirty="0"/>
          </a:p>
          <a:p>
            <a:r>
              <a:rPr lang="en-US" dirty="0"/>
              <a:t>Add A button which says 'Display Details‘</a:t>
            </a:r>
          </a:p>
          <a:p>
            <a:endParaRPr lang="en-US" dirty="0"/>
          </a:p>
          <a:p>
            <a:r>
              <a:rPr lang="en-US" dirty="0"/>
              <a:t>Add a paragraph with any content of your choice (Hello User)</a:t>
            </a:r>
          </a:p>
          <a:p>
            <a:endParaRPr lang="en-US" dirty="0"/>
          </a:p>
          <a:p>
            <a:r>
              <a:rPr lang="en-US" dirty="0"/>
              <a:t>Toggle the displaying of that paragraph with the button created in the first step</a:t>
            </a:r>
          </a:p>
          <a:p>
            <a:endParaRPr lang="en-US" dirty="0"/>
          </a:p>
          <a:p>
            <a:r>
              <a:rPr lang="en-US" dirty="0"/>
              <a:t>Create other button which displays the values one by one from other array for every click </a:t>
            </a:r>
          </a:p>
          <a:p>
            <a:endParaRPr lang="en-US" dirty="0"/>
          </a:p>
          <a:p>
            <a:endParaRPr lang="en-US" dirty="0"/>
          </a:p>
          <a:p>
            <a:r>
              <a:rPr lang="en-US" dirty="0"/>
              <a:t>Starting at the 5th log item, give all future log items a blue background (via </a:t>
            </a:r>
            <a:r>
              <a:rPr lang="en-US" dirty="0" err="1"/>
              <a:t>ngStyle</a:t>
            </a:r>
            <a:r>
              <a:rPr lang="en-US" dirty="0"/>
              <a:t>) and white color (</a:t>
            </a:r>
            <a:r>
              <a:rPr lang="en-US" dirty="0" err="1"/>
              <a:t>ngClass</a:t>
            </a:r>
            <a:r>
              <a:rPr lang="en-US" dirty="0"/>
              <a:t>)</a:t>
            </a:r>
          </a:p>
          <a:p>
            <a:endParaRPr lang="en-US" dirty="0"/>
          </a:p>
        </p:txBody>
      </p:sp>
    </p:spTree>
    <p:extLst>
      <p:ext uri="{BB962C8B-B14F-4D97-AF65-F5344CB8AC3E}">
        <p14:creationId xmlns:p14="http://schemas.microsoft.com/office/powerpoint/2010/main" val="3998470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5BB8A8-0BB0-49EC-E7FB-4B6D7236AA4E}"/>
              </a:ext>
            </a:extLst>
          </p:cNvPr>
          <p:cNvSpPr txBox="1"/>
          <p:nvPr/>
        </p:nvSpPr>
        <p:spPr>
          <a:xfrm>
            <a:off x="355107" y="186431"/>
            <a:ext cx="4412202" cy="5632311"/>
          </a:xfrm>
          <a:prstGeom prst="rect">
            <a:avLst/>
          </a:prstGeom>
          <a:noFill/>
        </p:spPr>
        <p:txBody>
          <a:bodyPr wrap="square" rtlCol="0">
            <a:spAutoFit/>
          </a:bodyPr>
          <a:lstStyle/>
          <a:p>
            <a:r>
              <a:rPr lang="en-IN" dirty="0"/>
              <a:t>&lt;p&gt;practise works!&lt;/p&gt;</a:t>
            </a:r>
          </a:p>
          <a:p>
            <a:endParaRPr lang="en-IN" dirty="0"/>
          </a:p>
          <a:p>
            <a:r>
              <a:rPr lang="en-IN" dirty="0"/>
              <a:t>&lt;button (click)="</a:t>
            </a:r>
            <a:r>
              <a:rPr lang="en-IN" dirty="0" err="1"/>
              <a:t>displayDetais</a:t>
            </a:r>
            <a:r>
              <a:rPr lang="en-IN" dirty="0"/>
              <a:t>()"&gt;</a:t>
            </a:r>
            <a:r>
              <a:rPr lang="en-IN" dirty="0" err="1"/>
              <a:t>DisplayDetails</a:t>
            </a:r>
            <a:r>
              <a:rPr lang="en-IN" dirty="0"/>
              <a:t>&lt;/button&gt;</a:t>
            </a:r>
          </a:p>
          <a:p>
            <a:endParaRPr lang="en-IN" dirty="0"/>
          </a:p>
          <a:p>
            <a:r>
              <a:rPr lang="en-IN" dirty="0"/>
              <a:t>&lt;button (click)="</a:t>
            </a:r>
            <a:r>
              <a:rPr lang="en-IN" dirty="0" err="1"/>
              <a:t>displayValues</a:t>
            </a:r>
            <a:r>
              <a:rPr lang="en-IN" dirty="0"/>
              <a:t>()"&gt;</a:t>
            </a:r>
            <a:r>
              <a:rPr lang="en-IN" dirty="0" err="1"/>
              <a:t>DisplayInfo</a:t>
            </a:r>
            <a:r>
              <a:rPr lang="en-IN" dirty="0"/>
              <a:t>&lt;/button&gt;</a:t>
            </a:r>
          </a:p>
          <a:p>
            <a:endParaRPr lang="en-IN" dirty="0"/>
          </a:p>
          <a:p>
            <a:r>
              <a:rPr lang="en-IN" dirty="0"/>
              <a:t>&lt;p *</a:t>
            </a:r>
            <a:r>
              <a:rPr lang="en-IN" dirty="0" err="1"/>
              <a:t>ngIf</a:t>
            </a:r>
            <a:r>
              <a:rPr lang="en-IN" dirty="0"/>
              <a:t>="flag"&gt;Hello User&lt;/p&gt;</a:t>
            </a:r>
          </a:p>
          <a:p>
            <a:endParaRPr lang="en-IN" dirty="0"/>
          </a:p>
          <a:p>
            <a:r>
              <a:rPr lang="en-IN" dirty="0"/>
              <a:t>&lt;p [</a:t>
            </a:r>
            <a:r>
              <a:rPr lang="en-IN" dirty="0" err="1"/>
              <a:t>ngStyle</a:t>
            </a:r>
            <a:r>
              <a:rPr lang="en-IN" dirty="0"/>
              <a:t>]="{</a:t>
            </a:r>
            <a:r>
              <a:rPr lang="en-IN" dirty="0" err="1"/>
              <a:t>background:color</a:t>
            </a:r>
            <a:r>
              <a:rPr lang="en-IN" dirty="0"/>
              <a:t>}"&gt;{{data}}&lt;/p&gt;</a:t>
            </a:r>
          </a:p>
          <a:p>
            <a:endParaRPr lang="en-IN" dirty="0"/>
          </a:p>
          <a:p>
            <a:r>
              <a:rPr lang="en-IN" dirty="0"/>
              <a:t>&lt;div *</a:t>
            </a:r>
            <a:r>
              <a:rPr lang="en-IN" dirty="0" err="1"/>
              <a:t>ngFor</a:t>
            </a:r>
            <a:r>
              <a:rPr lang="en-IN" dirty="0"/>
              <a:t>="let v of value2; let </a:t>
            </a:r>
            <a:r>
              <a:rPr lang="en-IN" dirty="0" err="1"/>
              <a:t>i</a:t>
            </a:r>
            <a:r>
              <a:rPr lang="en-IN" dirty="0"/>
              <a:t>= index"&gt;</a:t>
            </a:r>
          </a:p>
          <a:p>
            <a:r>
              <a:rPr lang="en-IN" dirty="0"/>
              <a:t>&lt;p [</a:t>
            </a:r>
            <a:r>
              <a:rPr lang="en-IN" dirty="0" err="1"/>
              <a:t>style.background-color</a:t>
            </a:r>
            <a:r>
              <a:rPr lang="en-IN" dirty="0"/>
              <a:t>]="</a:t>
            </a:r>
            <a:r>
              <a:rPr lang="en-IN" dirty="0" err="1"/>
              <a:t>i</a:t>
            </a:r>
            <a:r>
              <a:rPr lang="en-IN" dirty="0"/>
              <a:t>&gt;=4 ? 'blue' : 'white'"&gt;{{v}}&lt;/p&gt;</a:t>
            </a:r>
          </a:p>
          <a:p>
            <a:r>
              <a:rPr lang="en-IN" dirty="0"/>
              <a:t>&lt;/div&gt;</a:t>
            </a:r>
          </a:p>
          <a:p>
            <a:endParaRPr lang="en-IN" dirty="0"/>
          </a:p>
        </p:txBody>
      </p:sp>
      <p:sp>
        <p:nvSpPr>
          <p:cNvPr id="3" name="TextBox 2">
            <a:extLst>
              <a:ext uri="{FF2B5EF4-FFF2-40B4-BE49-F238E27FC236}">
                <a16:creationId xmlns:a16="http://schemas.microsoft.com/office/drawing/2014/main" id="{B4268DE2-0B2D-BB91-6315-A497C6277993}"/>
              </a:ext>
            </a:extLst>
          </p:cNvPr>
          <p:cNvSpPr txBox="1"/>
          <p:nvPr/>
        </p:nvSpPr>
        <p:spPr>
          <a:xfrm>
            <a:off x="5486400" y="124287"/>
            <a:ext cx="6462944" cy="5724644"/>
          </a:xfrm>
          <a:prstGeom prst="rect">
            <a:avLst/>
          </a:prstGeom>
          <a:noFill/>
        </p:spPr>
        <p:txBody>
          <a:bodyPr wrap="square" rtlCol="0">
            <a:spAutoFit/>
          </a:bodyPr>
          <a:lstStyle/>
          <a:p>
            <a:endParaRPr lang="en-IN" sz="1200" dirty="0"/>
          </a:p>
          <a:p>
            <a:endParaRPr lang="en-IN" sz="1200" dirty="0"/>
          </a:p>
          <a:p>
            <a:r>
              <a:rPr lang="en-IN" sz="1200" dirty="0"/>
              <a:t>export class Practise {</a:t>
            </a:r>
          </a:p>
          <a:p>
            <a:r>
              <a:rPr lang="en-IN" sz="1200" dirty="0"/>
              <a:t>  value2:string[]=[];</a:t>
            </a:r>
          </a:p>
          <a:p>
            <a:r>
              <a:rPr lang="en-IN" sz="1200" dirty="0"/>
              <a:t>  values=['</a:t>
            </a:r>
            <a:r>
              <a:rPr lang="en-IN" sz="1200" dirty="0" err="1"/>
              <a:t>abc</a:t>
            </a:r>
            <a:r>
              <a:rPr lang="en-IN" sz="1200" dirty="0"/>
              <a:t>','</a:t>
            </a:r>
            <a:r>
              <a:rPr lang="en-IN" sz="1200" dirty="0" err="1"/>
              <a:t>xyz</a:t>
            </a:r>
            <a:r>
              <a:rPr lang="en-IN" sz="1200" dirty="0"/>
              <a:t>','</a:t>
            </a:r>
            <a:r>
              <a:rPr lang="en-IN" sz="1200" dirty="0" err="1"/>
              <a:t>pqr</a:t>
            </a:r>
            <a:r>
              <a:rPr lang="en-IN" sz="1200" dirty="0"/>
              <a:t>','</a:t>
            </a:r>
            <a:r>
              <a:rPr lang="en-IN" sz="1200" dirty="0" err="1"/>
              <a:t>lmn</a:t>
            </a:r>
            <a:r>
              <a:rPr lang="en-IN" sz="1200" dirty="0"/>
              <a:t>','</a:t>
            </a:r>
            <a:r>
              <a:rPr lang="en-IN" sz="1200" dirty="0" err="1"/>
              <a:t>obc</a:t>
            </a:r>
            <a:r>
              <a:rPr lang="en-IN" sz="1200" dirty="0"/>
              <a:t>','</a:t>
            </a:r>
            <a:r>
              <a:rPr lang="en-IN" sz="1200" dirty="0" err="1"/>
              <a:t>xyzq</a:t>
            </a:r>
            <a:r>
              <a:rPr lang="en-IN" sz="1200" dirty="0"/>
              <a:t>'];</a:t>
            </a:r>
          </a:p>
          <a:p>
            <a:r>
              <a:rPr lang="en-IN" sz="1200" dirty="0"/>
              <a:t>  </a:t>
            </a:r>
            <a:r>
              <a:rPr lang="en-IN" sz="1200" dirty="0" err="1"/>
              <a:t>data:string</a:t>
            </a:r>
            <a:r>
              <a:rPr lang="en-IN" sz="1200" dirty="0"/>
              <a:t>="";</a:t>
            </a:r>
          </a:p>
          <a:p>
            <a:r>
              <a:rPr lang="en-IN" sz="1200" dirty="0"/>
              <a:t>  </a:t>
            </a:r>
            <a:r>
              <a:rPr lang="en-IN" sz="1200" dirty="0" err="1"/>
              <a:t>count:number</a:t>
            </a:r>
            <a:r>
              <a:rPr lang="en-IN" sz="1200" dirty="0"/>
              <a:t>=0;</a:t>
            </a:r>
          </a:p>
          <a:p>
            <a:r>
              <a:rPr lang="en-IN" sz="1200" dirty="0"/>
              <a:t>  </a:t>
            </a:r>
            <a:r>
              <a:rPr lang="en-IN" sz="1200" dirty="0" err="1"/>
              <a:t>flag:boolean</a:t>
            </a:r>
            <a:r>
              <a:rPr lang="en-IN" sz="1200" dirty="0"/>
              <a:t>=false;</a:t>
            </a:r>
          </a:p>
          <a:p>
            <a:r>
              <a:rPr lang="en-IN" sz="1200" dirty="0"/>
              <a:t>  </a:t>
            </a:r>
            <a:r>
              <a:rPr lang="en-IN" sz="1200" dirty="0" err="1"/>
              <a:t>displayDetais</a:t>
            </a:r>
            <a:r>
              <a:rPr lang="en-IN" sz="1200" dirty="0"/>
              <a:t>():void{</a:t>
            </a:r>
          </a:p>
          <a:p>
            <a:r>
              <a:rPr lang="en-IN" sz="1200" dirty="0"/>
              <a:t>    </a:t>
            </a:r>
            <a:r>
              <a:rPr lang="en-IN" sz="1200" dirty="0" err="1"/>
              <a:t>this.flag</a:t>
            </a:r>
            <a:r>
              <a:rPr lang="en-IN" sz="1200" dirty="0"/>
              <a:t>=!</a:t>
            </a:r>
            <a:r>
              <a:rPr lang="en-IN" sz="1200" dirty="0" err="1"/>
              <a:t>this.flag</a:t>
            </a:r>
            <a:r>
              <a:rPr lang="en-IN" sz="1200" dirty="0"/>
              <a:t>;</a:t>
            </a:r>
          </a:p>
          <a:p>
            <a:r>
              <a:rPr lang="en-IN" sz="1200" dirty="0"/>
              <a:t>  }</a:t>
            </a:r>
          </a:p>
          <a:p>
            <a:r>
              <a:rPr lang="en-IN" sz="1200" dirty="0" err="1"/>
              <a:t>color:string</a:t>
            </a:r>
            <a:r>
              <a:rPr lang="en-IN" sz="1200" dirty="0"/>
              <a:t>="";</a:t>
            </a:r>
          </a:p>
          <a:p>
            <a:r>
              <a:rPr lang="en-IN" sz="1200" dirty="0"/>
              <a:t>  </a:t>
            </a:r>
            <a:r>
              <a:rPr lang="en-IN" sz="1200" dirty="0" err="1"/>
              <a:t>displayValues</a:t>
            </a:r>
            <a:r>
              <a:rPr lang="en-IN" sz="1200" dirty="0"/>
              <a:t>():void{</a:t>
            </a:r>
          </a:p>
          <a:p>
            <a:r>
              <a:rPr lang="en-IN" sz="1200" dirty="0"/>
              <a:t>    </a:t>
            </a:r>
          </a:p>
          <a:p>
            <a:r>
              <a:rPr lang="en-IN" sz="1200" dirty="0"/>
              <a:t>    </a:t>
            </a:r>
            <a:r>
              <a:rPr lang="en-IN" sz="1200" dirty="0" err="1"/>
              <a:t>this.data</a:t>
            </a:r>
            <a:r>
              <a:rPr lang="en-IN" sz="1200" dirty="0"/>
              <a:t>=</a:t>
            </a:r>
            <a:r>
              <a:rPr lang="en-IN" sz="1200" dirty="0" err="1"/>
              <a:t>this.values</a:t>
            </a:r>
            <a:r>
              <a:rPr lang="en-IN" sz="1200" dirty="0"/>
              <a:t>[</a:t>
            </a:r>
            <a:r>
              <a:rPr lang="en-IN" sz="1200" dirty="0" err="1"/>
              <a:t>this.count</a:t>
            </a:r>
            <a:r>
              <a:rPr lang="en-IN" sz="1200" dirty="0"/>
              <a:t>++];</a:t>
            </a:r>
          </a:p>
          <a:p>
            <a:r>
              <a:rPr lang="en-IN" sz="1200" dirty="0"/>
              <a:t>   </a:t>
            </a:r>
          </a:p>
          <a:p>
            <a:r>
              <a:rPr lang="en-IN" sz="1200" dirty="0"/>
              <a:t>    this.value2.push(</a:t>
            </a:r>
            <a:r>
              <a:rPr lang="en-IN" sz="1200" dirty="0" err="1"/>
              <a:t>this.data</a:t>
            </a:r>
            <a:r>
              <a:rPr lang="en-IN" sz="1200" dirty="0"/>
              <a:t>);</a:t>
            </a:r>
          </a:p>
          <a:p>
            <a:r>
              <a:rPr lang="en-IN" sz="1200" dirty="0"/>
              <a:t>    </a:t>
            </a:r>
          </a:p>
          <a:p>
            <a:r>
              <a:rPr lang="en-IN" sz="1200" dirty="0"/>
              <a:t>    if(</a:t>
            </a:r>
            <a:r>
              <a:rPr lang="en-IN" sz="1200" dirty="0" err="1"/>
              <a:t>this.count</a:t>
            </a:r>
            <a:r>
              <a:rPr lang="en-IN" sz="1200" dirty="0"/>
              <a:t>&gt;=5){</a:t>
            </a:r>
          </a:p>
          <a:p>
            <a:r>
              <a:rPr lang="en-IN" sz="1200" dirty="0"/>
              <a:t>      </a:t>
            </a:r>
            <a:r>
              <a:rPr lang="en-IN" sz="1200" dirty="0" err="1"/>
              <a:t>this.color</a:t>
            </a:r>
            <a:r>
              <a:rPr lang="en-IN" sz="1200" dirty="0"/>
              <a:t>="blue";</a:t>
            </a:r>
          </a:p>
          <a:p>
            <a:r>
              <a:rPr lang="en-IN" sz="1200" dirty="0"/>
              <a:t>    }else{</a:t>
            </a:r>
          </a:p>
          <a:p>
            <a:r>
              <a:rPr lang="en-IN" sz="1200" dirty="0"/>
              <a:t>      </a:t>
            </a:r>
            <a:r>
              <a:rPr lang="en-IN" sz="1200" dirty="0" err="1"/>
              <a:t>this.color</a:t>
            </a:r>
            <a:r>
              <a:rPr lang="en-IN" sz="1200" dirty="0"/>
              <a:t>="";</a:t>
            </a:r>
          </a:p>
          <a:p>
            <a:r>
              <a:rPr lang="en-IN" sz="1200" dirty="0"/>
              <a:t>    }</a:t>
            </a:r>
          </a:p>
          <a:p>
            <a:r>
              <a:rPr lang="en-IN" sz="1200" dirty="0"/>
              <a:t>    if(</a:t>
            </a:r>
            <a:r>
              <a:rPr lang="en-IN" sz="1200" dirty="0" err="1"/>
              <a:t>this.count</a:t>
            </a:r>
            <a:r>
              <a:rPr lang="en-IN" sz="1200" dirty="0"/>
              <a:t>==this.values.length+1){</a:t>
            </a:r>
          </a:p>
          <a:p>
            <a:r>
              <a:rPr lang="en-IN" sz="1200" dirty="0"/>
              <a:t>      </a:t>
            </a:r>
            <a:r>
              <a:rPr lang="en-IN" sz="1200" dirty="0" err="1"/>
              <a:t>this.count</a:t>
            </a:r>
            <a:r>
              <a:rPr lang="en-IN" sz="1200" dirty="0"/>
              <a:t>=0;</a:t>
            </a:r>
          </a:p>
          <a:p>
            <a:r>
              <a:rPr lang="en-IN" sz="1200" dirty="0"/>
              <a:t>      this.value2=[];</a:t>
            </a:r>
          </a:p>
          <a:p>
            <a:r>
              <a:rPr lang="en-IN" sz="1200" dirty="0"/>
              <a:t>    }</a:t>
            </a:r>
          </a:p>
          <a:p>
            <a:r>
              <a:rPr lang="en-IN" sz="1200" dirty="0"/>
              <a:t>  }</a:t>
            </a:r>
          </a:p>
          <a:p>
            <a:r>
              <a:rPr lang="en-IN" sz="1200" dirty="0"/>
              <a:t>}</a:t>
            </a:r>
          </a:p>
          <a:p>
            <a:endParaRPr lang="en-IN" dirty="0"/>
          </a:p>
        </p:txBody>
      </p:sp>
    </p:spTree>
    <p:extLst>
      <p:ext uri="{BB962C8B-B14F-4D97-AF65-F5344CB8AC3E}">
        <p14:creationId xmlns:p14="http://schemas.microsoft.com/office/powerpoint/2010/main" val="1675241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Custom Directive</a:t>
            </a:r>
          </a:p>
        </p:txBody>
      </p:sp>
    </p:spTree>
    <p:extLst>
      <p:ext uri="{BB962C8B-B14F-4D97-AF65-F5344CB8AC3E}">
        <p14:creationId xmlns:p14="http://schemas.microsoft.com/office/powerpoint/2010/main" val="313690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738" y="262759"/>
            <a:ext cx="11403724" cy="1754326"/>
          </a:xfrm>
          <a:prstGeom prst="rect">
            <a:avLst/>
          </a:prstGeom>
          <a:noFill/>
        </p:spPr>
        <p:txBody>
          <a:bodyPr wrap="square" rtlCol="0">
            <a:spAutoFit/>
          </a:bodyPr>
          <a:lstStyle/>
          <a:p>
            <a:r>
              <a:rPr lang="en-US" dirty="0"/>
              <a:t>An attribute directive minimally requires building a controller class annotated with @Directive, </a:t>
            </a:r>
          </a:p>
          <a:p>
            <a:endParaRPr lang="en-US" dirty="0"/>
          </a:p>
          <a:p>
            <a:r>
              <a:rPr lang="en-US" dirty="0"/>
              <a:t>Syntax: ng generate directive &lt;</a:t>
            </a:r>
            <a:r>
              <a:rPr lang="en-US" dirty="0" err="1"/>
              <a:t>directivename</a:t>
            </a:r>
            <a:r>
              <a:rPr lang="en-US" dirty="0"/>
              <a:t>&gt;</a:t>
            </a:r>
          </a:p>
          <a:p>
            <a:r>
              <a:rPr lang="en-US" dirty="0"/>
              <a:t>Ex: ng generate directive highlight</a:t>
            </a:r>
          </a:p>
          <a:p>
            <a:endParaRPr lang="en-US" dirty="0"/>
          </a:p>
          <a:p>
            <a:endParaRPr lang="en-US" dirty="0"/>
          </a:p>
        </p:txBody>
      </p:sp>
      <p:sp>
        <p:nvSpPr>
          <p:cNvPr id="4" name="TextBox 3"/>
          <p:cNvSpPr txBox="1"/>
          <p:nvPr/>
        </p:nvSpPr>
        <p:spPr>
          <a:xfrm>
            <a:off x="241738" y="1681655"/>
            <a:ext cx="5391807" cy="2308324"/>
          </a:xfrm>
          <a:prstGeom prst="rect">
            <a:avLst/>
          </a:prstGeom>
          <a:solidFill>
            <a:schemeClr val="accent2">
              <a:lumMod val="40000"/>
              <a:lumOff val="60000"/>
            </a:schemeClr>
          </a:solidFill>
        </p:spPr>
        <p:txBody>
          <a:bodyPr wrap="square" rtlCol="0">
            <a:spAutoFit/>
          </a:bodyPr>
          <a:lstStyle/>
          <a:p>
            <a:r>
              <a:rPr lang="en-US" dirty="0"/>
              <a:t>import { </a:t>
            </a:r>
            <a:r>
              <a:rPr lang="en-US" dirty="0">
                <a:hlinkClick r:id="rId2"/>
              </a:rPr>
              <a:t>Directive</a:t>
            </a:r>
            <a:r>
              <a:rPr lang="en-US" dirty="0"/>
              <a:t>, </a:t>
            </a:r>
            <a:r>
              <a:rPr lang="en-US" dirty="0" err="1">
                <a:hlinkClick r:id="rId3"/>
              </a:rPr>
              <a:t>ElementRef</a:t>
            </a:r>
            <a:r>
              <a:rPr lang="en-US" dirty="0"/>
              <a:t> } from '@angular/core'; </a:t>
            </a:r>
          </a:p>
          <a:p>
            <a:r>
              <a:rPr lang="en-US" dirty="0"/>
              <a:t>@</a:t>
            </a:r>
            <a:r>
              <a:rPr lang="en-US" dirty="0">
                <a:hlinkClick r:id="rId2"/>
              </a:rPr>
              <a:t>Directive</a:t>
            </a:r>
            <a:r>
              <a:rPr lang="en-US" dirty="0"/>
              <a:t>({ selector: '[</a:t>
            </a:r>
            <a:r>
              <a:rPr lang="en-US" dirty="0" err="1"/>
              <a:t>appHighlight</a:t>
            </a:r>
            <a:r>
              <a:rPr lang="en-US" dirty="0"/>
              <a:t>]' }) </a:t>
            </a:r>
          </a:p>
          <a:p>
            <a:r>
              <a:rPr lang="en-US" dirty="0"/>
              <a:t>export class </a:t>
            </a:r>
            <a:r>
              <a:rPr lang="en-US" dirty="0" err="1"/>
              <a:t>HighlightDirective</a:t>
            </a:r>
            <a:r>
              <a:rPr lang="en-US" dirty="0"/>
              <a:t> { </a:t>
            </a:r>
          </a:p>
          <a:p>
            <a:r>
              <a:rPr lang="en-US" dirty="0"/>
              <a:t>constructor(el: </a:t>
            </a:r>
            <a:r>
              <a:rPr lang="en-US" dirty="0" err="1">
                <a:hlinkClick r:id="rId3"/>
              </a:rPr>
              <a:t>ElementRef</a:t>
            </a:r>
            <a:r>
              <a:rPr lang="en-US" dirty="0"/>
              <a:t>) { </a:t>
            </a:r>
          </a:p>
          <a:p>
            <a:r>
              <a:rPr lang="en-US" dirty="0" err="1"/>
              <a:t>el.nativeElement.style.backgroundColor</a:t>
            </a:r>
            <a:r>
              <a:rPr lang="en-US" dirty="0"/>
              <a:t> = 'yellow'; </a:t>
            </a:r>
          </a:p>
          <a:p>
            <a:r>
              <a:rPr lang="en-US" dirty="0"/>
              <a:t>} </a:t>
            </a:r>
          </a:p>
          <a:p>
            <a:r>
              <a:rPr lang="en-US" dirty="0"/>
              <a:t>}</a:t>
            </a:r>
          </a:p>
          <a:p>
            <a:endParaRPr lang="en-US" dirty="0"/>
          </a:p>
        </p:txBody>
      </p:sp>
      <p:sp>
        <p:nvSpPr>
          <p:cNvPr id="7" name="TextBox 6"/>
          <p:cNvSpPr txBox="1"/>
          <p:nvPr/>
        </p:nvSpPr>
        <p:spPr>
          <a:xfrm>
            <a:off x="5943600" y="1524000"/>
            <a:ext cx="5969876" cy="4524315"/>
          </a:xfrm>
          <a:prstGeom prst="rect">
            <a:avLst/>
          </a:prstGeom>
          <a:noFill/>
        </p:spPr>
        <p:txBody>
          <a:bodyPr wrap="square" rtlCol="0">
            <a:spAutoFit/>
          </a:bodyPr>
          <a:lstStyle/>
          <a:p>
            <a:r>
              <a:rPr lang="en-US" dirty="0"/>
              <a:t>The import statement specifies an additional </a:t>
            </a:r>
            <a:r>
              <a:rPr lang="en-US" dirty="0" err="1"/>
              <a:t>ElementRef</a:t>
            </a:r>
            <a:r>
              <a:rPr lang="en-US" dirty="0"/>
              <a:t> symbol from the Angular core library:</a:t>
            </a:r>
          </a:p>
          <a:p>
            <a:endParaRPr lang="en-US" dirty="0"/>
          </a:p>
          <a:p>
            <a:endParaRPr lang="en-US" dirty="0"/>
          </a:p>
          <a:p>
            <a:r>
              <a:rPr lang="en-US" dirty="0"/>
              <a:t>You use the </a:t>
            </a:r>
            <a:r>
              <a:rPr lang="en-US" dirty="0" err="1"/>
              <a:t>ElementRef</a:t>
            </a:r>
            <a:r>
              <a:rPr lang="en-US" dirty="0"/>
              <a:t> in the directive's constructor to inject a reference to the host DOM element, the element to which you applied </a:t>
            </a:r>
            <a:r>
              <a:rPr lang="en-US" dirty="0" err="1"/>
              <a:t>appHighlight</a:t>
            </a:r>
            <a:r>
              <a:rPr lang="en-US" dirty="0"/>
              <a:t>.</a:t>
            </a:r>
          </a:p>
          <a:p>
            <a:endParaRPr lang="en-US" dirty="0"/>
          </a:p>
          <a:p>
            <a:endParaRPr lang="en-US" dirty="0"/>
          </a:p>
          <a:p>
            <a:r>
              <a:rPr lang="en-US" dirty="0" err="1"/>
              <a:t>ElementRef</a:t>
            </a:r>
            <a:r>
              <a:rPr lang="en-US" dirty="0"/>
              <a:t> grants direct access to the host DOM element through its </a:t>
            </a:r>
            <a:r>
              <a:rPr lang="en-US" dirty="0" err="1"/>
              <a:t>nativeElement</a:t>
            </a:r>
            <a:r>
              <a:rPr lang="en-US" dirty="0"/>
              <a:t> property.</a:t>
            </a:r>
          </a:p>
          <a:p>
            <a:endParaRPr lang="en-US" dirty="0"/>
          </a:p>
          <a:p>
            <a:endParaRPr lang="en-US" dirty="0"/>
          </a:p>
          <a:p>
            <a:endParaRPr lang="en-US" dirty="0"/>
          </a:p>
          <a:p>
            <a:r>
              <a:rPr lang="en-US" dirty="0"/>
              <a:t>This first implementation sets the background color of the host element to yellow.</a:t>
            </a:r>
          </a:p>
        </p:txBody>
      </p:sp>
      <p:sp>
        <p:nvSpPr>
          <p:cNvPr id="8" name="TextBox 7"/>
          <p:cNvSpPr txBox="1"/>
          <p:nvPr/>
        </p:nvSpPr>
        <p:spPr>
          <a:xfrm>
            <a:off x="241738" y="4624552"/>
            <a:ext cx="4729655" cy="369332"/>
          </a:xfrm>
          <a:prstGeom prst="rect">
            <a:avLst/>
          </a:prstGeom>
          <a:solidFill>
            <a:schemeClr val="accent4">
              <a:lumMod val="60000"/>
              <a:lumOff val="40000"/>
            </a:schemeClr>
          </a:solidFill>
        </p:spPr>
        <p:txBody>
          <a:bodyPr wrap="square" rtlCol="0">
            <a:spAutoFit/>
          </a:bodyPr>
          <a:lstStyle/>
          <a:p>
            <a:r>
              <a:rPr lang="en-US" dirty="0"/>
              <a:t>&lt;p </a:t>
            </a:r>
            <a:r>
              <a:rPr lang="en-US" dirty="0" err="1"/>
              <a:t>appHighlight</a:t>
            </a:r>
            <a:r>
              <a:rPr lang="en-US" dirty="0"/>
              <a:t>&gt;Highlight me!&lt;/p&gt;</a:t>
            </a:r>
          </a:p>
        </p:txBody>
      </p:sp>
    </p:spTree>
    <p:extLst>
      <p:ext uri="{BB962C8B-B14F-4D97-AF65-F5344CB8AC3E}">
        <p14:creationId xmlns:p14="http://schemas.microsoft.com/office/powerpoint/2010/main" val="2542058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538" y="386026"/>
            <a:ext cx="7430814" cy="3240043"/>
          </a:xfrm>
          <a:prstGeom prst="rect">
            <a:avLst/>
          </a:prstGeom>
          <a:solidFill>
            <a:schemeClr val="tx1">
              <a:lumMod val="65000"/>
              <a:lumOff val="35000"/>
            </a:schemeClr>
          </a:solidFill>
        </p:spPr>
        <p:txBody>
          <a:bodyPr wrap="square">
            <a:spAutoFit/>
          </a:bodyPr>
          <a:lstStyle/>
          <a:p>
            <a:r>
              <a:rPr lang="en-US" b="0" dirty="0">
                <a:solidFill>
                  <a:srgbClr val="569CD6"/>
                </a:solidFill>
                <a:effectLst/>
                <a:latin typeface="Consolas" panose="020B0609020204030204" pitchFamily="49" charset="0"/>
              </a:rPr>
              <a:t>constructor</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private</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el</a:t>
            </a: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ElementRef</a:t>
            </a:r>
            <a:r>
              <a:rPr lang="en-US" b="0" dirty="0">
                <a:solidFill>
                  <a:srgbClr val="D4D4D4"/>
                </a:solidFill>
                <a:effectLst/>
                <a:latin typeface="Consolas" panose="020B0609020204030204" pitchFamily="49" charset="0"/>
              </a:rPr>
              <a:t>) {</a:t>
            </a:r>
          </a:p>
          <a:p>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el</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nativeElement</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style</a:t>
            </a:r>
            <a:r>
              <a:rPr lang="en-US" b="0" dirty="0" err="1">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'yellow'</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p>
          <a:p>
            <a:br>
              <a:rPr lang="en-US" b="0" dirty="0">
                <a:solidFill>
                  <a:srgbClr val="D4D4D4"/>
                </a:solidFill>
                <a:effectLst/>
                <a:latin typeface="Consolas" panose="020B0609020204030204" pitchFamily="49" charset="0"/>
              </a:rPr>
            </a:br>
            <a:r>
              <a:rPr lang="en-US" b="0" dirty="0">
                <a:solidFill>
                  <a:srgbClr val="D4D4D4"/>
                </a:solidFill>
                <a:effectLst/>
                <a:latin typeface="Consolas" panose="020B0609020204030204" pitchFamily="49" charset="0"/>
              </a:rPr>
              <a:t> @</a:t>
            </a:r>
            <a:r>
              <a:rPr lang="en-US" b="0" dirty="0" err="1">
                <a:solidFill>
                  <a:srgbClr val="4EC9B0"/>
                </a:solidFill>
                <a:effectLst/>
                <a:latin typeface="Consolas" panose="020B0609020204030204" pitchFamily="49" charset="0"/>
              </a:rPr>
              <a:t>HostListener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mouseenter</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onMouseEnter</a:t>
            </a:r>
            <a:r>
              <a:rPr lang="en-US" b="0" dirty="0">
                <a:solidFill>
                  <a:srgbClr val="D4D4D4"/>
                </a:solidFill>
                <a:effectLst/>
                <a:latin typeface="Consolas" panose="020B0609020204030204" pitchFamily="49" charset="0"/>
              </a:rPr>
              <a:t>() {</a:t>
            </a:r>
          </a:p>
          <a:p>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highlight</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'yellow'</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4D4D4"/>
                </a:solidFill>
                <a:effectLst/>
                <a:latin typeface="Consolas" panose="020B0609020204030204" pitchFamily="49" charset="0"/>
              </a:rPr>
              <a:t>@</a:t>
            </a:r>
            <a:r>
              <a:rPr lang="en-US" b="0" dirty="0" err="1">
                <a:solidFill>
                  <a:srgbClr val="4EC9B0"/>
                </a:solidFill>
                <a:effectLst/>
                <a:latin typeface="Consolas" panose="020B0609020204030204" pitchFamily="49" charset="0"/>
              </a:rPr>
              <a:t>HostListener</a:t>
            </a:r>
            <a:r>
              <a:rPr lang="en-US" b="0" dirty="0">
                <a:solidFill>
                  <a:srgbClr val="D4D4D4"/>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mouseleave</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onMouseLeave</a:t>
            </a:r>
            <a:r>
              <a:rPr lang="en-US" b="0" dirty="0">
                <a:solidFill>
                  <a:srgbClr val="D4D4D4"/>
                </a:solidFill>
                <a:effectLst/>
                <a:latin typeface="Consolas" panose="020B0609020204030204" pitchFamily="49" charset="0"/>
              </a:rPr>
              <a:t>() {</a:t>
            </a:r>
          </a:p>
          <a:p>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this</a:t>
            </a:r>
            <a:r>
              <a:rPr lang="en-US" b="0" dirty="0" err="1">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highlight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null</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256871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Pipes</a:t>
            </a:r>
          </a:p>
        </p:txBody>
      </p:sp>
    </p:spTree>
    <p:extLst>
      <p:ext uri="{BB962C8B-B14F-4D97-AF65-F5344CB8AC3E}">
        <p14:creationId xmlns:p14="http://schemas.microsoft.com/office/powerpoint/2010/main" val="2482704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6028" y="493986"/>
            <a:ext cx="10983310" cy="5632311"/>
          </a:xfrm>
          <a:prstGeom prst="rect">
            <a:avLst/>
          </a:prstGeom>
          <a:noFill/>
        </p:spPr>
        <p:txBody>
          <a:bodyPr wrap="square" rtlCol="0">
            <a:spAutoFit/>
          </a:bodyPr>
          <a:lstStyle/>
          <a:p>
            <a:r>
              <a:rPr lang="en-US" dirty="0"/>
              <a:t>Use </a:t>
            </a:r>
            <a:r>
              <a:rPr lang="en-US" dirty="0">
                <a:hlinkClick r:id="rId2" tooltip="Definition of a pipe"/>
              </a:rPr>
              <a:t>pipes</a:t>
            </a:r>
            <a:r>
              <a:rPr lang="en-US" dirty="0"/>
              <a:t> to transform strings, currency amounts, dates, and other data for display. Pipes are simple functions you can use in </a:t>
            </a:r>
            <a:r>
              <a:rPr lang="en-US" dirty="0">
                <a:hlinkClick r:id="rId3" tooltip="Definition of template expression"/>
              </a:rPr>
              <a:t>template expressions</a:t>
            </a:r>
            <a:r>
              <a:rPr lang="en-US" dirty="0"/>
              <a:t> to accept an input value and return a transformed value</a:t>
            </a:r>
          </a:p>
          <a:p>
            <a:endParaRPr lang="en-US" dirty="0"/>
          </a:p>
          <a:p>
            <a:r>
              <a:rPr lang="en-US" dirty="0"/>
              <a:t>Angular  provides some built-in pipes:</a:t>
            </a:r>
          </a:p>
          <a:p>
            <a:r>
              <a:rPr lang="en-US" dirty="0" err="1"/>
              <a:t>Lowercasepipe</a:t>
            </a:r>
            <a:r>
              <a:rPr lang="en-US" dirty="0"/>
              <a:t>    </a:t>
            </a:r>
            <a:r>
              <a:rPr lang="en-US" dirty="0">
                <a:sym typeface="Wingdings" panose="05000000000000000000" pitchFamily="2" charset="2"/>
              </a:rPr>
              <a:t> </a:t>
            </a:r>
            <a:r>
              <a:rPr lang="en-US" dirty="0"/>
              <a:t>{{title | lowercase}}</a:t>
            </a:r>
          </a:p>
          <a:p>
            <a:endParaRPr lang="en-US" dirty="0"/>
          </a:p>
          <a:p>
            <a:r>
              <a:rPr lang="en-US" dirty="0" err="1"/>
              <a:t>Uppercasepipe</a:t>
            </a:r>
            <a:r>
              <a:rPr lang="en-US" dirty="0"/>
              <a:t>  </a:t>
            </a:r>
            <a:r>
              <a:rPr lang="en-US" dirty="0">
                <a:sym typeface="Wingdings" panose="05000000000000000000" pitchFamily="2" charset="2"/>
              </a:rPr>
              <a:t></a:t>
            </a:r>
            <a:r>
              <a:rPr lang="en-US" dirty="0"/>
              <a:t>{{title | uppercase}}</a:t>
            </a:r>
          </a:p>
          <a:p>
            <a:endParaRPr lang="en-US" dirty="0"/>
          </a:p>
          <a:p>
            <a:r>
              <a:rPr lang="en-US" dirty="0" err="1"/>
              <a:t>Datepipe</a:t>
            </a:r>
            <a:r>
              <a:rPr lang="en-US" dirty="0"/>
              <a:t>  </a:t>
            </a:r>
            <a:r>
              <a:rPr lang="en-US" dirty="0">
                <a:sym typeface="Wingdings" panose="05000000000000000000" pitchFamily="2" charset="2"/>
              </a:rPr>
              <a:t>  </a:t>
            </a:r>
            <a:r>
              <a:rPr lang="en-US" dirty="0"/>
              <a:t>{{</a:t>
            </a:r>
            <a:r>
              <a:rPr lang="en-US" dirty="0" err="1"/>
              <a:t>todaydate</a:t>
            </a:r>
            <a:r>
              <a:rPr lang="en-US" dirty="0"/>
              <a:t> | </a:t>
            </a:r>
            <a:r>
              <a:rPr lang="en-US" dirty="0" err="1"/>
              <a:t>date:'d</a:t>
            </a:r>
            <a:r>
              <a:rPr lang="en-US" dirty="0"/>
              <a:t>/M/y'}}     {{</a:t>
            </a:r>
            <a:r>
              <a:rPr lang="en-US" dirty="0" err="1"/>
              <a:t>todaydate</a:t>
            </a:r>
            <a:r>
              <a:rPr lang="en-US" dirty="0"/>
              <a:t> | date:'</a:t>
            </a:r>
            <a:r>
              <a:rPr lang="en-US" dirty="0" err="1"/>
              <a:t>shortTime</a:t>
            </a:r>
            <a:r>
              <a:rPr lang="en-US" dirty="0"/>
              <a:t>'}}</a:t>
            </a:r>
          </a:p>
          <a:p>
            <a:endParaRPr lang="en-US" dirty="0"/>
          </a:p>
          <a:p>
            <a:r>
              <a:rPr lang="en-US" dirty="0" err="1"/>
              <a:t>Currencypipe</a:t>
            </a:r>
            <a:r>
              <a:rPr lang="en-US" dirty="0"/>
              <a:t>   </a:t>
            </a:r>
            <a:r>
              <a:rPr lang="en-US" dirty="0">
                <a:sym typeface="Wingdings" panose="05000000000000000000" pitchFamily="2" charset="2"/>
              </a:rPr>
              <a:t> Gold value</a:t>
            </a:r>
            <a:r>
              <a:rPr lang="en-US" dirty="0"/>
              <a:t>{{90 | </a:t>
            </a:r>
            <a:r>
              <a:rPr lang="en-US" dirty="0" err="1"/>
              <a:t>currency:"USD</a:t>
            </a:r>
            <a:r>
              <a:rPr lang="en-US" dirty="0"/>
              <a:t>"}}</a:t>
            </a:r>
          </a:p>
          <a:p>
            <a:endParaRPr lang="en-US" dirty="0"/>
          </a:p>
          <a:p>
            <a:r>
              <a:rPr lang="en-US" dirty="0" err="1"/>
              <a:t>Jsonpipe</a:t>
            </a:r>
            <a:r>
              <a:rPr lang="en-US" dirty="0"/>
              <a:t>  </a:t>
            </a:r>
            <a:r>
              <a:rPr lang="en-US" dirty="0">
                <a:sym typeface="Wingdings" panose="05000000000000000000" pitchFamily="2" charset="2"/>
              </a:rPr>
              <a:t>  </a:t>
            </a:r>
            <a:r>
              <a:rPr lang="en-US" dirty="0"/>
              <a:t>{{ </a:t>
            </a:r>
            <a:r>
              <a:rPr lang="en-US" dirty="0" err="1"/>
              <a:t>jsonval</a:t>
            </a:r>
            <a:r>
              <a:rPr lang="en-US" dirty="0"/>
              <a:t> | </a:t>
            </a:r>
            <a:r>
              <a:rPr lang="en-US" dirty="0" err="1"/>
              <a:t>json</a:t>
            </a:r>
            <a:r>
              <a:rPr lang="en-US" dirty="0"/>
              <a:t> }}</a:t>
            </a:r>
          </a:p>
          <a:p>
            <a:endParaRPr lang="en-US" dirty="0"/>
          </a:p>
          <a:p>
            <a:r>
              <a:rPr lang="en-US" dirty="0" err="1"/>
              <a:t>Percentpipe</a:t>
            </a:r>
            <a:r>
              <a:rPr lang="en-US" dirty="0"/>
              <a:t> </a:t>
            </a:r>
            <a:r>
              <a:rPr lang="en-US" dirty="0">
                <a:sym typeface="Wingdings" panose="05000000000000000000" pitchFamily="2" charset="2"/>
              </a:rPr>
              <a:t>  </a:t>
            </a:r>
            <a:r>
              <a:rPr lang="en-US" dirty="0"/>
              <a:t>{{(360/600) | percent}}</a:t>
            </a:r>
          </a:p>
          <a:p>
            <a:endParaRPr lang="en-US" dirty="0"/>
          </a:p>
          <a:p>
            <a:r>
              <a:rPr lang="en-US" dirty="0" err="1"/>
              <a:t>Decimalpipe</a:t>
            </a:r>
            <a:r>
              <a:rPr lang="en-US" dirty="0"/>
              <a:t>  </a:t>
            </a:r>
            <a:r>
              <a:rPr lang="en-US" dirty="0">
                <a:sym typeface="Wingdings" panose="05000000000000000000" pitchFamily="2" charset="2"/>
              </a:rPr>
              <a:t>  </a:t>
            </a:r>
            <a:r>
              <a:rPr lang="en-US" dirty="0"/>
              <a:t>{{ 600.78787814 | number: '3.4-4' }}</a:t>
            </a:r>
          </a:p>
          <a:p>
            <a:endParaRPr lang="en-US" dirty="0"/>
          </a:p>
          <a:p>
            <a:r>
              <a:rPr lang="en-US" dirty="0" err="1"/>
              <a:t>Slicepipe</a:t>
            </a:r>
            <a:r>
              <a:rPr lang="en-US" dirty="0"/>
              <a:t>  </a:t>
            </a:r>
            <a:r>
              <a:rPr lang="en-US" dirty="0">
                <a:sym typeface="Wingdings" panose="05000000000000000000" pitchFamily="2" charset="2"/>
              </a:rPr>
              <a:t> </a:t>
            </a:r>
            <a:r>
              <a:rPr lang="en-US" dirty="0"/>
              <a:t>{{months | slice:2:6}}</a:t>
            </a:r>
          </a:p>
          <a:p>
            <a:endParaRPr lang="en-US" dirty="0"/>
          </a:p>
        </p:txBody>
      </p:sp>
    </p:spTree>
    <p:extLst>
      <p:ext uri="{BB962C8B-B14F-4D97-AF65-F5344CB8AC3E}">
        <p14:creationId xmlns:p14="http://schemas.microsoft.com/office/powerpoint/2010/main" val="402060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517" y="472966"/>
            <a:ext cx="11445766" cy="5078313"/>
          </a:xfrm>
          <a:prstGeom prst="rect">
            <a:avLst/>
          </a:prstGeom>
          <a:noFill/>
        </p:spPr>
        <p:txBody>
          <a:bodyPr wrap="square" rtlCol="0">
            <a:spAutoFit/>
          </a:bodyPr>
          <a:lstStyle/>
          <a:p>
            <a:r>
              <a:rPr lang="en-US" b="1" u="sng" dirty="0"/>
              <a:t>Pre-defined format options</a:t>
            </a:r>
          </a:p>
          <a:p>
            <a:r>
              <a:rPr lang="en-US" dirty="0"/>
              <a:t>Examples are given in </a:t>
            </a:r>
            <a:r>
              <a:rPr lang="en-US" dirty="0" err="1"/>
              <a:t>en</a:t>
            </a:r>
            <a:r>
              <a:rPr lang="en-US" dirty="0"/>
              <a:t>-US locale.</a:t>
            </a:r>
          </a:p>
          <a:p>
            <a:endParaRPr lang="en-US" dirty="0"/>
          </a:p>
          <a:p>
            <a:r>
              <a:rPr lang="en-US" dirty="0"/>
              <a:t>'short': equivalent to 'M/d/</a:t>
            </a:r>
            <a:r>
              <a:rPr lang="en-US" dirty="0" err="1"/>
              <a:t>yy</a:t>
            </a:r>
            <a:r>
              <a:rPr lang="en-US" dirty="0"/>
              <a:t>, h:mm a' (6/15/15, 9:03 AM).</a:t>
            </a:r>
          </a:p>
          <a:p>
            <a:endParaRPr lang="en-US" dirty="0"/>
          </a:p>
          <a:p>
            <a:r>
              <a:rPr lang="en-US" dirty="0"/>
              <a:t>'medium': equivalent to 'MMM d, y, h:mm:ss a' (Jun 15, 2015, 9:03:01 AM).</a:t>
            </a:r>
          </a:p>
          <a:p>
            <a:endParaRPr lang="en-US" dirty="0"/>
          </a:p>
          <a:p>
            <a:r>
              <a:rPr lang="en-US" dirty="0"/>
              <a:t>'long': equivalent to 'MMMM d, y, h:mm:ss a z' (June 15, 2015 at 9:03:01 AM GMT+1).</a:t>
            </a:r>
            <a:br>
              <a:rPr lang="en-US" dirty="0"/>
            </a:br>
            <a:endParaRPr lang="en-US" dirty="0"/>
          </a:p>
          <a:p>
            <a:r>
              <a:rPr lang="en-US" dirty="0"/>
              <a:t>'full': equivalent to 'EEEE, MMMM d, y, h:mm:ss a zzzz' (Monday, June 15, 2015 at 9:03:01 AM GMT+01:00).</a:t>
            </a:r>
          </a:p>
          <a:p>
            <a:r>
              <a:rPr lang="en-US" dirty="0"/>
              <a:t>'</a:t>
            </a:r>
            <a:r>
              <a:rPr lang="en-US" dirty="0" err="1"/>
              <a:t>shortDate</a:t>
            </a:r>
            <a:r>
              <a:rPr lang="en-US" dirty="0"/>
              <a:t>': equivalent to 'M/d/</a:t>
            </a:r>
            <a:r>
              <a:rPr lang="en-US" dirty="0" err="1"/>
              <a:t>yy</a:t>
            </a:r>
            <a:r>
              <a:rPr lang="en-US" dirty="0"/>
              <a:t>' (6/15/15).</a:t>
            </a:r>
          </a:p>
          <a:p>
            <a:r>
              <a:rPr lang="en-US" dirty="0"/>
              <a:t>'</a:t>
            </a:r>
            <a:r>
              <a:rPr lang="en-US" dirty="0" err="1"/>
              <a:t>mediumDate</a:t>
            </a:r>
            <a:r>
              <a:rPr lang="en-US" dirty="0"/>
              <a:t>': equivalent to 'MMM d, y' (Jun 15, 2015).</a:t>
            </a:r>
          </a:p>
          <a:p>
            <a:r>
              <a:rPr lang="en-US" dirty="0"/>
              <a:t>'</a:t>
            </a:r>
            <a:r>
              <a:rPr lang="en-US" dirty="0" err="1"/>
              <a:t>longDate</a:t>
            </a:r>
            <a:r>
              <a:rPr lang="en-US" dirty="0"/>
              <a:t>': equivalent to 'MMMM d, y' (June 15, 2015).</a:t>
            </a:r>
          </a:p>
          <a:p>
            <a:r>
              <a:rPr lang="en-US" dirty="0"/>
              <a:t>'</a:t>
            </a:r>
            <a:r>
              <a:rPr lang="en-US" dirty="0" err="1"/>
              <a:t>fullDate</a:t>
            </a:r>
            <a:r>
              <a:rPr lang="en-US" dirty="0"/>
              <a:t>': equivalent to 'EEEE, MMMM d, y' (Monday, June 15, 2015).</a:t>
            </a:r>
          </a:p>
          <a:p>
            <a:r>
              <a:rPr lang="en-US" dirty="0"/>
              <a:t>'</a:t>
            </a:r>
            <a:r>
              <a:rPr lang="en-US" dirty="0" err="1"/>
              <a:t>shortTime</a:t>
            </a:r>
            <a:r>
              <a:rPr lang="en-US" dirty="0"/>
              <a:t>': equivalent to '</a:t>
            </a:r>
            <a:r>
              <a:rPr lang="en-US" dirty="0" err="1"/>
              <a:t>h:mm</a:t>
            </a:r>
            <a:r>
              <a:rPr lang="en-US" dirty="0"/>
              <a:t> a' (9:03 AM).</a:t>
            </a:r>
          </a:p>
          <a:p>
            <a:r>
              <a:rPr lang="en-US" dirty="0"/>
              <a:t>'</a:t>
            </a:r>
            <a:r>
              <a:rPr lang="en-US" dirty="0" err="1"/>
              <a:t>mediumTime</a:t>
            </a:r>
            <a:r>
              <a:rPr lang="en-US" dirty="0"/>
              <a:t>': equivalent to '</a:t>
            </a:r>
            <a:r>
              <a:rPr lang="en-US" dirty="0" err="1"/>
              <a:t>h:mm:ss</a:t>
            </a:r>
            <a:r>
              <a:rPr lang="en-US" dirty="0"/>
              <a:t> a' (9:03:01 AM).</a:t>
            </a:r>
          </a:p>
          <a:p>
            <a:r>
              <a:rPr lang="en-US" dirty="0"/>
              <a:t>'</a:t>
            </a:r>
            <a:r>
              <a:rPr lang="en-US" dirty="0" err="1"/>
              <a:t>longTime</a:t>
            </a:r>
            <a:r>
              <a:rPr lang="en-US" dirty="0"/>
              <a:t>': equivalent to '</a:t>
            </a:r>
            <a:r>
              <a:rPr lang="en-US" dirty="0" err="1"/>
              <a:t>h:mm:ss</a:t>
            </a:r>
            <a:r>
              <a:rPr lang="en-US" dirty="0"/>
              <a:t> a z' (9:03:01 AM GMT+1).</a:t>
            </a:r>
          </a:p>
          <a:p>
            <a:r>
              <a:rPr lang="en-US" dirty="0"/>
              <a:t>'</a:t>
            </a:r>
            <a:r>
              <a:rPr lang="en-US" dirty="0" err="1"/>
              <a:t>fullTime</a:t>
            </a:r>
            <a:r>
              <a:rPr lang="en-US" dirty="0"/>
              <a:t>': equivalent to '</a:t>
            </a:r>
            <a:r>
              <a:rPr lang="en-US" dirty="0" err="1"/>
              <a:t>h:mm:ss</a:t>
            </a:r>
            <a:r>
              <a:rPr lang="en-US" dirty="0"/>
              <a:t> a zzzz' (9:03:01 AM GMT+01:00).</a:t>
            </a:r>
          </a:p>
        </p:txBody>
      </p:sp>
    </p:spTree>
    <p:extLst>
      <p:ext uri="{BB962C8B-B14F-4D97-AF65-F5344CB8AC3E}">
        <p14:creationId xmlns:p14="http://schemas.microsoft.com/office/powerpoint/2010/main" val="416615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903" y="462455"/>
            <a:ext cx="10962290" cy="1200329"/>
          </a:xfrm>
          <a:prstGeom prst="rect">
            <a:avLst/>
          </a:prstGeom>
          <a:solidFill>
            <a:schemeClr val="bg2"/>
          </a:solidFill>
        </p:spPr>
        <p:txBody>
          <a:bodyPr wrap="square" rtlCol="0">
            <a:spAutoFit/>
          </a:bodyPr>
          <a:lstStyle/>
          <a:p>
            <a:r>
              <a:rPr lang="en-US" dirty="0"/>
              <a:t>{{ </a:t>
            </a:r>
            <a:r>
              <a:rPr lang="en-US" dirty="0" err="1"/>
              <a:t>dateObj</a:t>
            </a:r>
            <a:r>
              <a:rPr lang="en-US" dirty="0"/>
              <a:t> | </a:t>
            </a:r>
            <a:r>
              <a:rPr lang="en-US" dirty="0">
                <a:hlinkClick r:id="rId2"/>
              </a:rPr>
              <a:t>date</a:t>
            </a:r>
            <a:r>
              <a:rPr lang="en-US" dirty="0"/>
              <a:t> }} // output is 'Jun 15, 2015' </a:t>
            </a:r>
          </a:p>
          <a:p>
            <a:r>
              <a:rPr lang="en-US" dirty="0"/>
              <a:t>{{ </a:t>
            </a:r>
            <a:r>
              <a:rPr lang="en-US" dirty="0" err="1"/>
              <a:t>dateObj</a:t>
            </a:r>
            <a:r>
              <a:rPr lang="en-US" dirty="0"/>
              <a:t> | </a:t>
            </a:r>
            <a:r>
              <a:rPr lang="en-US" dirty="0" err="1">
                <a:hlinkClick r:id="rId2"/>
              </a:rPr>
              <a:t>date</a:t>
            </a:r>
            <a:r>
              <a:rPr lang="en-US" dirty="0" err="1"/>
              <a:t>:'medium</a:t>
            </a:r>
            <a:r>
              <a:rPr lang="en-US" dirty="0"/>
              <a:t>' }} // output is 'Jun 15, 2015, 9:43:11 PM' </a:t>
            </a:r>
          </a:p>
          <a:p>
            <a:r>
              <a:rPr lang="en-US" dirty="0"/>
              <a:t>{{ </a:t>
            </a:r>
            <a:r>
              <a:rPr lang="en-US" dirty="0" err="1"/>
              <a:t>dateObj</a:t>
            </a:r>
            <a:r>
              <a:rPr lang="en-US" dirty="0"/>
              <a:t> | </a:t>
            </a:r>
            <a:r>
              <a:rPr lang="en-US" dirty="0">
                <a:hlinkClick r:id="rId2"/>
              </a:rPr>
              <a:t>date</a:t>
            </a:r>
            <a:r>
              <a:rPr lang="en-US" dirty="0"/>
              <a:t>:'</a:t>
            </a:r>
            <a:r>
              <a:rPr lang="en-US" dirty="0" err="1"/>
              <a:t>shortTime</a:t>
            </a:r>
            <a:r>
              <a:rPr lang="en-US" dirty="0"/>
              <a:t>' }} // output is '9:43 PM‘</a:t>
            </a:r>
          </a:p>
          <a:p>
            <a:r>
              <a:rPr lang="en-US" dirty="0"/>
              <a:t> {{ </a:t>
            </a:r>
            <a:r>
              <a:rPr lang="en-US" dirty="0" err="1"/>
              <a:t>dateObj</a:t>
            </a:r>
            <a:r>
              <a:rPr lang="en-US" dirty="0"/>
              <a:t> | </a:t>
            </a:r>
            <a:r>
              <a:rPr lang="en-US" dirty="0">
                <a:hlinkClick r:id="rId2"/>
              </a:rPr>
              <a:t>date</a:t>
            </a:r>
            <a:r>
              <a:rPr lang="en-US" dirty="0"/>
              <a:t>:'</a:t>
            </a:r>
            <a:r>
              <a:rPr lang="en-US" dirty="0" err="1"/>
              <a:t>mm:ss</a:t>
            </a:r>
            <a:r>
              <a:rPr lang="en-US" dirty="0"/>
              <a:t>' }} // output is '43:11'</a:t>
            </a:r>
          </a:p>
        </p:txBody>
      </p:sp>
    </p:spTree>
    <p:extLst>
      <p:ext uri="{BB962C8B-B14F-4D97-AF65-F5344CB8AC3E}">
        <p14:creationId xmlns:p14="http://schemas.microsoft.com/office/powerpoint/2010/main" val="3057687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738" y="294290"/>
            <a:ext cx="11424745" cy="4801314"/>
          </a:xfrm>
          <a:prstGeom prst="rect">
            <a:avLst/>
          </a:prstGeom>
          <a:noFill/>
        </p:spPr>
        <p:txBody>
          <a:bodyPr wrap="square" rtlCol="0">
            <a:spAutoFit/>
          </a:bodyPr>
          <a:lstStyle/>
          <a:p>
            <a:r>
              <a:rPr lang="en-US" dirty="0"/>
              <a:t>Create Custom Pipe</a:t>
            </a:r>
          </a:p>
          <a:p>
            <a:r>
              <a:rPr lang="en-US" dirty="0"/>
              <a:t>Create custom pipes to encapsulate transformations that are not provided with the built-in pipes. </a:t>
            </a:r>
          </a:p>
          <a:p>
            <a:endParaRPr lang="en-US" dirty="0"/>
          </a:p>
          <a:p>
            <a:endParaRPr lang="en-US" dirty="0"/>
          </a:p>
          <a:p>
            <a:r>
              <a:rPr lang="en-US" dirty="0"/>
              <a:t>import {Pipe, </a:t>
            </a:r>
            <a:r>
              <a:rPr lang="en-US" dirty="0" err="1"/>
              <a:t>PipeTransform</a:t>
            </a:r>
            <a:r>
              <a:rPr lang="en-US" dirty="0"/>
              <a:t>} from '@angular/core';  </a:t>
            </a:r>
          </a:p>
          <a:p>
            <a:r>
              <a:rPr lang="en-US" dirty="0"/>
              <a:t>@Pipe ({  </a:t>
            </a:r>
          </a:p>
          <a:p>
            <a:r>
              <a:rPr lang="en-US" dirty="0"/>
              <a:t>  name : '</a:t>
            </a:r>
            <a:r>
              <a:rPr lang="en-US" dirty="0" err="1"/>
              <a:t>sqrt</a:t>
            </a:r>
            <a:r>
              <a:rPr lang="en-US" dirty="0"/>
              <a:t>'  </a:t>
            </a:r>
          </a:p>
          <a:p>
            <a:r>
              <a:rPr lang="en-US" dirty="0"/>
              <a:t>})  </a:t>
            </a:r>
          </a:p>
          <a:p>
            <a:r>
              <a:rPr lang="en-US" dirty="0"/>
              <a:t>export class </a:t>
            </a:r>
            <a:r>
              <a:rPr lang="en-US" dirty="0" err="1"/>
              <a:t>SqrtPipe</a:t>
            </a:r>
            <a:r>
              <a:rPr lang="en-US" dirty="0"/>
              <a:t> implements </a:t>
            </a:r>
            <a:r>
              <a:rPr lang="en-US" dirty="0" err="1"/>
              <a:t>PipeTransform</a:t>
            </a:r>
            <a:r>
              <a:rPr lang="en-US" dirty="0"/>
              <a:t> {  </a:t>
            </a:r>
          </a:p>
          <a:p>
            <a:r>
              <a:rPr lang="en-US" dirty="0"/>
              <a:t>  transform(</a:t>
            </a:r>
            <a:r>
              <a:rPr lang="en-US" dirty="0" err="1"/>
              <a:t>val</a:t>
            </a:r>
            <a:r>
              <a:rPr lang="en-US" dirty="0"/>
              <a:t> : number) : number {  </a:t>
            </a:r>
          </a:p>
          <a:p>
            <a:r>
              <a:rPr lang="en-US" dirty="0"/>
              <a:t>    return </a:t>
            </a:r>
            <a:r>
              <a:rPr lang="en-US" dirty="0" err="1"/>
              <a:t>Math.sqrt</a:t>
            </a:r>
            <a:r>
              <a:rPr lang="en-US" dirty="0"/>
              <a:t>(</a:t>
            </a:r>
            <a:r>
              <a:rPr lang="en-US" dirty="0" err="1"/>
              <a:t>val</a:t>
            </a:r>
            <a:r>
              <a:rPr lang="en-US" dirty="0"/>
              <a:t>);  </a:t>
            </a:r>
          </a:p>
          <a:p>
            <a:r>
              <a:rPr lang="en-US" dirty="0"/>
              <a:t>  }  </a:t>
            </a:r>
          </a:p>
          <a:p>
            <a:r>
              <a:rPr lang="en-US" dirty="0"/>
              <a:t>}  </a:t>
            </a:r>
          </a:p>
          <a:p>
            <a:endParaRPr lang="en-US" dirty="0"/>
          </a:p>
          <a:p>
            <a:endParaRPr lang="en-US" dirty="0"/>
          </a:p>
          <a:p>
            <a:r>
              <a:rPr lang="en-US" dirty="0"/>
              <a:t>Here </a:t>
            </a:r>
            <a:r>
              <a:rPr lang="en-US" dirty="0" err="1"/>
              <a:t>PipeTransform</a:t>
            </a:r>
            <a:r>
              <a:rPr lang="en-US" dirty="0"/>
              <a:t> is an interface and we need to update in </a:t>
            </a:r>
            <a:r>
              <a:rPr lang="en-US" dirty="0" err="1"/>
              <a:t>app.modules.ts</a:t>
            </a:r>
            <a:endParaRPr lang="en-US" dirty="0"/>
          </a:p>
          <a:p>
            <a:endParaRPr lang="en-US" dirty="0"/>
          </a:p>
        </p:txBody>
      </p:sp>
      <p:sp>
        <p:nvSpPr>
          <p:cNvPr id="3" name="TextBox 2"/>
          <p:cNvSpPr txBox="1"/>
          <p:nvPr/>
        </p:nvSpPr>
        <p:spPr>
          <a:xfrm>
            <a:off x="7052441" y="2694947"/>
            <a:ext cx="5065986" cy="646331"/>
          </a:xfrm>
          <a:prstGeom prst="rect">
            <a:avLst/>
          </a:prstGeom>
          <a:solidFill>
            <a:schemeClr val="bg2"/>
          </a:solidFill>
        </p:spPr>
        <p:txBody>
          <a:bodyPr wrap="square" rtlCol="0">
            <a:spAutoFit/>
          </a:bodyPr>
          <a:lstStyle/>
          <a:p>
            <a:r>
              <a:rPr lang="en-US" b="1" dirty="0"/>
              <a:t>&lt;h2&gt;</a:t>
            </a:r>
            <a:r>
              <a:rPr lang="en-US" dirty="0"/>
              <a:t>Square root of 625 is: {{625 | </a:t>
            </a:r>
            <a:r>
              <a:rPr lang="en-US" dirty="0" err="1"/>
              <a:t>sqrt</a:t>
            </a:r>
            <a:r>
              <a:rPr lang="en-US" dirty="0"/>
              <a:t>}}</a:t>
            </a:r>
            <a:r>
              <a:rPr lang="en-US" b="1" dirty="0"/>
              <a:t>&lt;/h2&gt;&lt;</a:t>
            </a:r>
            <a:r>
              <a:rPr lang="en-US" b="1" dirty="0" err="1"/>
              <a:t>br</a:t>
            </a:r>
            <a:r>
              <a:rPr lang="en-US" b="1" dirty="0"/>
              <a:t>/&gt;</a:t>
            </a:r>
            <a:r>
              <a:rPr lang="en-US" dirty="0"/>
              <a:t>  </a:t>
            </a:r>
          </a:p>
        </p:txBody>
      </p:sp>
    </p:spTree>
    <p:extLst>
      <p:ext uri="{BB962C8B-B14F-4D97-AF65-F5344CB8AC3E}">
        <p14:creationId xmlns:p14="http://schemas.microsoft.com/office/powerpoint/2010/main" val="1343163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04018"/>
            <a:ext cx="9144000" cy="2387600"/>
          </a:xfrm>
        </p:spPr>
        <p:txBody>
          <a:bodyPr>
            <a:normAutofit fontScale="90000"/>
          </a:bodyPr>
          <a:lstStyle/>
          <a:p>
            <a:br>
              <a:rPr lang="en-US" b="1" dirty="0"/>
            </a:br>
            <a:br>
              <a:rPr lang="en-US" b="1" dirty="0"/>
            </a:br>
            <a:r>
              <a:rPr lang="en-US" b="1" dirty="0"/>
              <a:t>@Input, @Output and </a:t>
            </a:r>
            <a:r>
              <a:rPr lang="en-US" b="1" dirty="0" err="1"/>
              <a:t>EventEmitter</a:t>
            </a:r>
            <a:br>
              <a:rPr lang="en-US" b="1" dirty="0"/>
            </a:br>
            <a:r>
              <a:rPr lang="en-US" b="1" dirty="0"/>
              <a:t>(or)</a:t>
            </a:r>
            <a:br>
              <a:rPr lang="en-US" b="1" dirty="0"/>
            </a:br>
            <a:r>
              <a:rPr lang="en-US" b="1" dirty="0"/>
              <a:t>Components Communication</a:t>
            </a:r>
            <a:endParaRPr lang="en-US" dirty="0"/>
          </a:p>
        </p:txBody>
      </p:sp>
    </p:spTree>
    <p:extLst>
      <p:ext uri="{BB962C8B-B14F-4D97-AF65-F5344CB8AC3E}">
        <p14:creationId xmlns:p14="http://schemas.microsoft.com/office/powerpoint/2010/main" val="1540728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329447" y="2007476"/>
            <a:ext cx="3405352" cy="36365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9543393" y="3294994"/>
            <a:ext cx="1944413" cy="183405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Child Component</a:t>
            </a:r>
          </a:p>
        </p:txBody>
      </p:sp>
      <p:sp>
        <p:nvSpPr>
          <p:cNvPr id="4" name="TextBox 3"/>
          <p:cNvSpPr txBox="1"/>
          <p:nvPr/>
        </p:nvSpPr>
        <p:spPr>
          <a:xfrm>
            <a:off x="9091448" y="2680138"/>
            <a:ext cx="2396358" cy="367862"/>
          </a:xfrm>
          <a:prstGeom prst="rect">
            <a:avLst/>
          </a:prstGeom>
          <a:noFill/>
        </p:spPr>
        <p:txBody>
          <a:bodyPr wrap="square" rtlCol="0">
            <a:spAutoFit/>
          </a:bodyPr>
          <a:lstStyle/>
          <a:p>
            <a:r>
              <a:rPr lang="en-US" dirty="0"/>
              <a:t>Parent Component</a:t>
            </a:r>
          </a:p>
        </p:txBody>
      </p:sp>
      <p:cxnSp>
        <p:nvCxnSpPr>
          <p:cNvPr id="6" name="Straight Arrow Connector 5"/>
          <p:cNvCxnSpPr/>
          <p:nvPr/>
        </p:nvCxnSpPr>
        <p:spPr>
          <a:xfrm>
            <a:off x="9774620" y="3048000"/>
            <a:ext cx="515007" cy="683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0032123" y="3048000"/>
            <a:ext cx="1455683" cy="369332"/>
          </a:xfrm>
          <a:prstGeom prst="rect">
            <a:avLst/>
          </a:prstGeom>
          <a:noFill/>
        </p:spPr>
        <p:txBody>
          <a:bodyPr wrap="square" rtlCol="0">
            <a:spAutoFit/>
          </a:bodyPr>
          <a:lstStyle/>
          <a:p>
            <a:r>
              <a:rPr lang="en-US" dirty="0"/>
              <a:t>@Input</a:t>
            </a:r>
          </a:p>
        </p:txBody>
      </p:sp>
      <p:cxnSp>
        <p:nvCxnSpPr>
          <p:cNvPr id="9" name="Straight Arrow Connector 8"/>
          <p:cNvCxnSpPr/>
          <p:nvPr/>
        </p:nvCxnSpPr>
        <p:spPr>
          <a:xfrm flipH="1" flipV="1">
            <a:off x="9091448" y="3731172"/>
            <a:ext cx="777765" cy="798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091448" y="4361793"/>
            <a:ext cx="1198179" cy="369332"/>
          </a:xfrm>
          <a:prstGeom prst="rect">
            <a:avLst/>
          </a:prstGeom>
          <a:noFill/>
        </p:spPr>
        <p:txBody>
          <a:bodyPr wrap="square" rtlCol="0">
            <a:spAutoFit/>
          </a:bodyPr>
          <a:lstStyle/>
          <a:p>
            <a:r>
              <a:rPr lang="en-US" dirty="0"/>
              <a:t>@Output</a:t>
            </a:r>
          </a:p>
        </p:txBody>
      </p:sp>
      <p:sp>
        <p:nvSpPr>
          <p:cNvPr id="11" name="TextBox 10"/>
          <p:cNvSpPr txBox="1"/>
          <p:nvPr/>
        </p:nvSpPr>
        <p:spPr>
          <a:xfrm>
            <a:off x="599090" y="725214"/>
            <a:ext cx="8755117" cy="4247317"/>
          </a:xfrm>
          <a:prstGeom prst="rect">
            <a:avLst/>
          </a:prstGeom>
          <a:noFill/>
        </p:spPr>
        <p:txBody>
          <a:bodyPr wrap="square" rtlCol="0">
            <a:spAutoFit/>
          </a:bodyPr>
          <a:lstStyle/>
          <a:p>
            <a:r>
              <a:rPr lang="en-US" dirty="0">
                <a:sym typeface="Wingdings" panose="05000000000000000000" pitchFamily="2" charset="2"/>
              </a:rPr>
              <a:t></a:t>
            </a:r>
            <a:r>
              <a:rPr lang="en-US" dirty="0"/>
              <a:t>To communicate from parent to child component we use @Input decorator to pass data from parent to child component</a:t>
            </a:r>
          </a:p>
          <a:p>
            <a:endParaRPr lang="en-US" dirty="0"/>
          </a:p>
          <a:p>
            <a:pPr marL="285750" indent="-285750">
              <a:buFont typeface="Wingdings" panose="05000000000000000000" pitchFamily="2" charset="2"/>
              <a:buChar char="à"/>
            </a:pPr>
            <a:r>
              <a:rPr lang="en-US" dirty="0">
                <a:sym typeface="Wingdings" panose="05000000000000000000" pitchFamily="2" charset="2"/>
              </a:rPr>
              <a:t>Send back data from child to parent we use @Output decorator.</a:t>
            </a:r>
          </a:p>
          <a:p>
            <a:pPr marL="285750" indent="-285750">
              <a:buFont typeface="Wingdings" panose="05000000000000000000" pitchFamily="2" charset="2"/>
              <a:buChar char="à"/>
            </a:pPr>
            <a:endParaRPr lang="en-US" dirty="0">
              <a:sym typeface="Wingdings" panose="05000000000000000000" pitchFamily="2" charset="2"/>
            </a:endParaRPr>
          </a:p>
          <a:p>
            <a:pPr marL="285750" indent="-285750">
              <a:buFont typeface="Wingdings" panose="05000000000000000000" pitchFamily="2" charset="2"/>
              <a:buChar char="à"/>
            </a:pPr>
            <a:r>
              <a:rPr lang="en-US" dirty="0"/>
              <a:t>The @Output emits the data using the </a:t>
            </a:r>
            <a:r>
              <a:rPr lang="en-US" dirty="0" err="1"/>
              <a:t>EventEmitter</a:t>
            </a:r>
            <a:r>
              <a:rPr lang="en-US" dirty="0"/>
              <a:t> method </a:t>
            </a:r>
          </a:p>
          <a:p>
            <a:r>
              <a:rPr lang="en-US" dirty="0"/>
              <a:t>      to the parent component.</a:t>
            </a:r>
          </a:p>
          <a:p>
            <a:endParaRPr lang="en-US" dirty="0"/>
          </a:p>
          <a:p>
            <a:endParaRPr lang="en-US" dirty="0"/>
          </a:p>
          <a:p>
            <a:endParaRPr lang="en-US" dirty="0"/>
          </a:p>
          <a:p>
            <a:pPr marL="285750" indent="-285750">
              <a:buFont typeface="Wingdings" panose="05000000000000000000" pitchFamily="2" charset="2"/>
              <a:buChar char="à"/>
            </a:pPr>
            <a:r>
              <a:rPr lang="en-US" dirty="0">
                <a:sym typeface="Wingdings" panose="05000000000000000000" pitchFamily="2" charset="2"/>
              </a:rPr>
              <a:t>Use in components with the @Output directive to emit </a:t>
            </a:r>
          </a:p>
          <a:p>
            <a:r>
              <a:rPr lang="en-US" dirty="0">
                <a:sym typeface="Wingdings" panose="05000000000000000000" pitchFamily="2" charset="2"/>
              </a:rPr>
              <a:t>      custom events synchronously or asynchronously</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2647265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5442" y="830316"/>
            <a:ext cx="6968359" cy="48137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2690656" y="2816771"/>
            <a:ext cx="5864772" cy="2291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207180" y="984293"/>
            <a:ext cx="3258207" cy="369332"/>
          </a:xfrm>
          <a:prstGeom prst="rect">
            <a:avLst/>
          </a:prstGeom>
          <a:noFill/>
        </p:spPr>
        <p:txBody>
          <a:bodyPr wrap="square" rtlCol="0">
            <a:spAutoFit/>
          </a:bodyPr>
          <a:lstStyle/>
          <a:p>
            <a:r>
              <a:rPr lang="en-US" dirty="0"/>
              <a:t>Parent Component</a:t>
            </a:r>
          </a:p>
        </p:txBody>
      </p:sp>
      <p:sp>
        <p:nvSpPr>
          <p:cNvPr id="5" name="Rectangle 4"/>
          <p:cNvSpPr/>
          <p:nvPr/>
        </p:nvSpPr>
        <p:spPr>
          <a:xfrm>
            <a:off x="2207180" y="1717336"/>
            <a:ext cx="1240220" cy="36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Button</a:t>
            </a:r>
          </a:p>
        </p:txBody>
      </p:sp>
      <p:cxnSp>
        <p:nvCxnSpPr>
          <p:cNvPr id="7" name="Straight Arrow Connector 6"/>
          <p:cNvCxnSpPr/>
          <p:nvPr/>
        </p:nvCxnSpPr>
        <p:spPr>
          <a:xfrm>
            <a:off x="2848311" y="2070536"/>
            <a:ext cx="1082565" cy="1439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895609" y="3593800"/>
            <a:ext cx="4151586" cy="369332"/>
          </a:xfrm>
          <a:prstGeom prst="rect">
            <a:avLst/>
          </a:prstGeom>
          <a:noFill/>
        </p:spPr>
        <p:txBody>
          <a:bodyPr wrap="square" rtlCol="0">
            <a:spAutoFit/>
          </a:bodyPr>
          <a:lstStyle/>
          <a:p>
            <a:r>
              <a:rPr lang="en-US" dirty="0"/>
              <a:t>Value get Updated from parent {{Value}}</a:t>
            </a:r>
          </a:p>
        </p:txBody>
      </p:sp>
      <p:sp>
        <p:nvSpPr>
          <p:cNvPr id="10" name="Rectangle 9"/>
          <p:cNvSpPr/>
          <p:nvPr/>
        </p:nvSpPr>
        <p:spPr>
          <a:xfrm>
            <a:off x="6884285" y="3184265"/>
            <a:ext cx="1240220" cy="3678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Button</a:t>
            </a:r>
          </a:p>
        </p:txBody>
      </p:sp>
      <p:cxnSp>
        <p:nvCxnSpPr>
          <p:cNvPr id="12" name="Straight Arrow Connector 11"/>
          <p:cNvCxnSpPr/>
          <p:nvPr/>
        </p:nvCxnSpPr>
        <p:spPr>
          <a:xfrm flipH="1" flipV="1">
            <a:off x="5465387" y="1901267"/>
            <a:ext cx="1797269" cy="1335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129056" y="1353625"/>
            <a:ext cx="3279227" cy="646331"/>
          </a:xfrm>
          <a:prstGeom prst="rect">
            <a:avLst/>
          </a:prstGeom>
          <a:noFill/>
        </p:spPr>
        <p:txBody>
          <a:bodyPr wrap="square" rtlCol="0">
            <a:spAutoFit/>
          </a:bodyPr>
          <a:lstStyle/>
          <a:p>
            <a:r>
              <a:rPr lang="en-US" dirty="0"/>
              <a:t>Value get updated from Child to Parent</a:t>
            </a:r>
          </a:p>
        </p:txBody>
      </p:sp>
    </p:spTree>
    <p:extLst>
      <p:ext uri="{BB962C8B-B14F-4D97-AF65-F5344CB8AC3E}">
        <p14:creationId xmlns:p14="http://schemas.microsoft.com/office/powerpoint/2010/main" val="3046546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7406D4-9AB9-0B20-4DD2-A154BC907110}"/>
              </a:ext>
            </a:extLst>
          </p:cNvPr>
          <p:cNvPicPr>
            <a:picLocks noChangeAspect="1"/>
          </p:cNvPicPr>
          <p:nvPr/>
        </p:nvPicPr>
        <p:blipFill>
          <a:blip r:embed="rId2"/>
          <a:stretch>
            <a:fillRect/>
          </a:stretch>
        </p:blipFill>
        <p:spPr>
          <a:xfrm>
            <a:off x="1671637" y="1566862"/>
            <a:ext cx="8848725" cy="3724275"/>
          </a:xfrm>
          <a:prstGeom prst="rect">
            <a:avLst/>
          </a:prstGeom>
        </p:spPr>
      </p:pic>
    </p:spTree>
    <p:extLst>
      <p:ext uri="{BB962C8B-B14F-4D97-AF65-F5344CB8AC3E}">
        <p14:creationId xmlns:p14="http://schemas.microsoft.com/office/powerpoint/2010/main" val="38321122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7D94DC-D792-1A86-8B48-8E49620C261E}"/>
              </a:ext>
            </a:extLst>
          </p:cNvPr>
          <p:cNvSpPr/>
          <p:nvPr/>
        </p:nvSpPr>
        <p:spPr>
          <a:xfrm>
            <a:off x="270588" y="447869"/>
            <a:ext cx="5085184" cy="59622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95C012AB-15D0-B8E7-DA93-16D18549827D}"/>
              </a:ext>
            </a:extLst>
          </p:cNvPr>
          <p:cNvSpPr txBox="1"/>
          <p:nvPr/>
        </p:nvSpPr>
        <p:spPr>
          <a:xfrm>
            <a:off x="410547" y="615820"/>
            <a:ext cx="4739951" cy="4524315"/>
          </a:xfrm>
          <a:prstGeom prst="rect">
            <a:avLst/>
          </a:prstGeom>
          <a:noFill/>
        </p:spPr>
        <p:txBody>
          <a:bodyPr wrap="square" rtlCol="0">
            <a:spAutoFit/>
          </a:bodyPr>
          <a:lstStyle/>
          <a:p>
            <a:r>
              <a:rPr lang="en-IN" dirty="0"/>
              <a:t>Parent.html</a:t>
            </a:r>
          </a:p>
          <a:p>
            <a:r>
              <a:rPr lang="en-IN" dirty="0"/>
              <a:t>&lt;button (click)="</a:t>
            </a:r>
            <a:r>
              <a:rPr lang="en-IN" dirty="0" err="1"/>
              <a:t>updateValueToChild</a:t>
            </a:r>
            <a:r>
              <a:rPr lang="en-IN" dirty="0"/>
              <a:t>()"&gt;</a:t>
            </a:r>
            <a:r>
              <a:rPr lang="en-IN" dirty="0" err="1"/>
              <a:t>ParentButton</a:t>
            </a:r>
            <a:r>
              <a:rPr lang="en-IN" dirty="0"/>
              <a:t>&lt;/button&gt;</a:t>
            </a:r>
          </a:p>
          <a:p>
            <a:r>
              <a:rPr lang="en-IN" dirty="0"/>
              <a:t>&lt;!-- Child Component &lt;app-child&gt;&lt;/app-child&gt; --&gt;</a:t>
            </a:r>
          </a:p>
          <a:p>
            <a:endParaRPr lang="en-IN" dirty="0"/>
          </a:p>
          <a:p>
            <a:endParaRPr lang="en-IN" dirty="0"/>
          </a:p>
          <a:p>
            <a:r>
              <a:rPr lang="en-IN" dirty="0"/>
              <a:t>&lt;!-- Pass </a:t>
            </a:r>
            <a:r>
              <a:rPr lang="en-IN" dirty="0" err="1"/>
              <a:t>pvalue</a:t>
            </a:r>
            <a:r>
              <a:rPr lang="en-IN" dirty="0"/>
              <a:t> to child and listen for child's event --&gt; </a:t>
            </a:r>
          </a:p>
          <a:p>
            <a:r>
              <a:rPr lang="en-IN" dirty="0"/>
              <a:t> &lt;app-child [</a:t>
            </a:r>
            <a:r>
              <a:rPr lang="en-IN" dirty="0" err="1"/>
              <a:t>cvalue</a:t>
            </a:r>
            <a:r>
              <a:rPr lang="en-IN" dirty="0"/>
              <a:t>]="</a:t>
            </a:r>
            <a:r>
              <a:rPr lang="en-IN" dirty="0" err="1"/>
              <a:t>pcvalue</a:t>
            </a:r>
            <a:r>
              <a:rPr lang="en-IN" dirty="0"/>
              <a:t>" (</a:t>
            </a:r>
            <a:r>
              <a:rPr lang="en-IN" dirty="0" err="1"/>
              <a:t>cvalueChange</a:t>
            </a:r>
            <a:r>
              <a:rPr lang="en-IN" dirty="0"/>
              <a:t>)="</a:t>
            </a:r>
            <a:r>
              <a:rPr lang="en-IN" dirty="0" err="1"/>
              <a:t>updateValueFromChild</a:t>
            </a:r>
            <a:r>
              <a:rPr lang="en-IN" dirty="0"/>
              <a:t>($event)"&gt;&lt;/app-child&gt;</a:t>
            </a:r>
          </a:p>
          <a:p>
            <a:br>
              <a:rPr lang="en-IN" dirty="0"/>
            </a:br>
            <a:endParaRPr lang="en-IN" dirty="0"/>
          </a:p>
          <a:p>
            <a:endParaRPr lang="en-IN" dirty="0"/>
          </a:p>
        </p:txBody>
      </p:sp>
      <p:sp>
        <p:nvSpPr>
          <p:cNvPr id="6" name="Rectangle 5">
            <a:extLst>
              <a:ext uri="{FF2B5EF4-FFF2-40B4-BE49-F238E27FC236}">
                <a16:creationId xmlns:a16="http://schemas.microsoft.com/office/drawing/2014/main" id="{12E9C3FC-8236-10D2-AB45-3C1EDF396621}"/>
              </a:ext>
            </a:extLst>
          </p:cNvPr>
          <p:cNvSpPr/>
          <p:nvPr/>
        </p:nvSpPr>
        <p:spPr>
          <a:xfrm>
            <a:off x="5822302" y="447869"/>
            <a:ext cx="5635690" cy="59622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B7107406-95A7-E33E-CBBB-01084E4898CC}"/>
              </a:ext>
            </a:extLst>
          </p:cNvPr>
          <p:cNvSpPr txBox="1"/>
          <p:nvPr/>
        </p:nvSpPr>
        <p:spPr>
          <a:xfrm>
            <a:off x="6096000" y="615820"/>
            <a:ext cx="5085184" cy="4801314"/>
          </a:xfrm>
          <a:prstGeom prst="rect">
            <a:avLst/>
          </a:prstGeom>
          <a:noFill/>
        </p:spPr>
        <p:txBody>
          <a:bodyPr wrap="square" rtlCol="0">
            <a:spAutoFit/>
          </a:bodyPr>
          <a:lstStyle/>
          <a:p>
            <a:r>
              <a:rPr lang="en-IN" dirty="0" err="1"/>
              <a:t>Parent.ts</a:t>
            </a:r>
            <a:endParaRPr lang="en-IN" dirty="0"/>
          </a:p>
          <a:p>
            <a:endParaRPr lang="en-IN" dirty="0"/>
          </a:p>
          <a:p>
            <a:r>
              <a:rPr lang="en-IN" dirty="0"/>
              <a:t>export class Parent {</a:t>
            </a:r>
          </a:p>
          <a:p>
            <a:r>
              <a:rPr lang="en-IN" dirty="0" err="1"/>
              <a:t>pcvalue</a:t>
            </a:r>
            <a:r>
              <a:rPr lang="en-IN" dirty="0"/>
              <a:t>: number = 0; </a:t>
            </a:r>
          </a:p>
          <a:p>
            <a:r>
              <a:rPr lang="en-IN" dirty="0" err="1"/>
              <a:t>pvalue:number</a:t>
            </a:r>
            <a:r>
              <a:rPr lang="en-IN" dirty="0"/>
              <a:t> =0;</a:t>
            </a:r>
          </a:p>
          <a:p>
            <a:r>
              <a:rPr lang="en-IN" dirty="0" err="1"/>
              <a:t>updateValueToChild</a:t>
            </a:r>
            <a:r>
              <a:rPr lang="en-IN" dirty="0"/>
              <a:t>():void { </a:t>
            </a:r>
          </a:p>
          <a:p>
            <a:r>
              <a:rPr lang="en-IN" dirty="0"/>
              <a:t>  </a:t>
            </a:r>
            <a:r>
              <a:rPr lang="en-IN" dirty="0" err="1"/>
              <a:t>this.pcvalue</a:t>
            </a:r>
            <a:r>
              <a:rPr lang="en-IN" dirty="0"/>
              <a:t>++; // increment parent value and send to child </a:t>
            </a:r>
          </a:p>
          <a:p>
            <a:r>
              <a:rPr lang="en-IN" dirty="0"/>
              <a:t>  } </a:t>
            </a:r>
          </a:p>
          <a:p>
            <a:r>
              <a:rPr lang="en-IN" dirty="0"/>
              <a:t>  </a:t>
            </a:r>
            <a:r>
              <a:rPr lang="en-IN" dirty="0" err="1"/>
              <a:t>updateValueFromChild</a:t>
            </a:r>
            <a:r>
              <a:rPr lang="en-IN" dirty="0"/>
              <a:t>(</a:t>
            </a:r>
            <a:r>
              <a:rPr lang="en-IN" dirty="0" err="1"/>
              <a:t>childVal</a:t>
            </a:r>
            <a:r>
              <a:rPr lang="en-IN" dirty="0"/>
              <a:t>: number): void { </a:t>
            </a:r>
          </a:p>
          <a:p>
            <a:r>
              <a:rPr lang="en-IN" dirty="0"/>
              <a:t>    </a:t>
            </a:r>
            <a:r>
              <a:rPr lang="en-IN" dirty="0" err="1"/>
              <a:t>this.pvalue</a:t>
            </a:r>
            <a:r>
              <a:rPr lang="en-IN" dirty="0"/>
              <a:t> = </a:t>
            </a:r>
            <a:r>
              <a:rPr lang="en-IN" dirty="0" err="1"/>
              <a:t>childVal</a:t>
            </a:r>
            <a:r>
              <a:rPr lang="en-IN" dirty="0"/>
              <a:t>; // update parent when child emits </a:t>
            </a:r>
          </a:p>
          <a:p>
            <a:r>
              <a:rPr lang="en-IN" dirty="0"/>
              <a:t>    }</a:t>
            </a:r>
          </a:p>
          <a:p>
            <a:r>
              <a:rPr lang="en-IN" dirty="0"/>
              <a:t>}</a:t>
            </a:r>
          </a:p>
          <a:p>
            <a:br>
              <a:rPr lang="en-IN" dirty="0"/>
            </a:br>
            <a:endParaRPr lang="en-IN" dirty="0"/>
          </a:p>
          <a:p>
            <a:endParaRPr lang="en-IN" dirty="0"/>
          </a:p>
        </p:txBody>
      </p:sp>
    </p:spTree>
    <p:extLst>
      <p:ext uri="{BB962C8B-B14F-4D97-AF65-F5344CB8AC3E}">
        <p14:creationId xmlns:p14="http://schemas.microsoft.com/office/powerpoint/2010/main" val="864599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F3F23C-1743-8D10-28C3-A7F4AC4A6481}"/>
              </a:ext>
            </a:extLst>
          </p:cNvPr>
          <p:cNvSpPr/>
          <p:nvPr/>
        </p:nvSpPr>
        <p:spPr>
          <a:xfrm>
            <a:off x="195943" y="298581"/>
            <a:ext cx="5150498" cy="62608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05907BAE-8B17-2657-65CF-B240E202ACFD}"/>
              </a:ext>
            </a:extLst>
          </p:cNvPr>
          <p:cNvSpPr txBox="1"/>
          <p:nvPr/>
        </p:nvSpPr>
        <p:spPr>
          <a:xfrm>
            <a:off x="354563" y="382555"/>
            <a:ext cx="4693298" cy="6463308"/>
          </a:xfrm>
          <a:prstGeom prst="rect">
            <a:avLst/>
          </a:prstGeom>
          <a:noFill/>
        </p:spPr>
        <p:txBody>
          <a:bodyPr wrap="square" rtlCol="0">
            <a:spAutoFit/>
          </a:bodyPr>
          <a:lstStyle/>
          <a:p>
            <a:r>
              <a:rPr lang="en-IN" b="1" dirty="0"/>
              <a:t>Child.html</a:t>
            </a:r>
          </a:p>
          <a:p>
            <a:endParaRPr lang="en-IN" dirty="0"/>
          </a:p>
          <a:p>
            <a:r>
              <a:rPr lang="en-IN" dirty="0"/>
              <a:t>Value from Child {{</a:t>
            </a:r>
            <a:r>
              <a:rPr lang="en-IN" dirty="0" err="1"/>
              <a:t>cvalue</a:t>
            </a:r>
            <a:r>
              <a:rPr lang="en-IN" dirty="0"/>
              <a:t>}}</a:t>
            </a:r>
          </a:p>
          <a:p>
            <a:r>
              <a:rPr lang="en-IN" dirty="0"/>
              <a:t>&lt;button (click)="</a:t>
            </a:r>
            <a:r>
              <a:rPr lang="en-IN" dirty="0" err="1"/>
              <a:t>updateValueToParent</a:t>
            </a:r>
            <a:r>
              <a:rPr lang="en-IN" dirty="0"/>
              <a:t>()"&gt;</a:t>
            </a:r>
            <a:r>
              <a:rPr lang="en-IN" dirty="0" err="1"/>
              <a:t>ChildButton</a:t>
            </a:r>
            <a:r>
              <a:rPr lang="en-IN" dirty="0"/>
              <a:t>&lt;/button&gt;</a:t>
            </a:r>
          </a:p>
          <a:p>
            <a:endParaRPr lang="en-IN" dirty="0"/>
          </a:p>
          <a:p>
            <a:r>
              <a:rPr lang="en-IN" b="1" dirty="0" err="1"/>
              <a:t>Child.ts</a:t>
            </a:r>
            <a:endParaRPr lang="en-IN" b="1" dirty="0"/>
          </a:p>
          <a:p>
            <a:endParaRPr lang="en-IN" b="1" dirty="0"/>
          </a:p>
          <a:p>
            <a:r>
              <a:rPr lang="en-IN" dirty="0"/>
              <a:t>export class Child {</a:t>
            </a:r>
          </a:p>
          <a:p>
            <a:r>
              <a:rPr lang="en-IN" dirty="0"/>
              <a:t> @Input() </a:t>
            </a:r>
            <a:r>
              <a:rPr lang="en-IN" dirty="0" err="1"/>
              <a:t>cvalue</a:t>
            </a:r>
            <a:r>
              <a:rPr lang="en-IN" dirty="0"/>
              <a:t>: number = 0; // receive value from parent </a:t>
            </a:r>
          </a:p>
          <a:p>
            <a:r>
              <a:rPr lang="en-IN" dirty="0"/>
              <a:t> @Output() </a:t>
            </a:r>
            <a:r>
              <a:rPr lang="en-IN" dirty="0" err="1"/>
              <a:t>cvalueChange</a:t>
            </a:r>
            <a:r>
              <a:rPr lang="en-IN" dirty="0"/>
              <a:t> = new </a:t>
            </a:r>
            <a:r>
              <a:rPr lang="en-IN" dirty="0" err="1"/>
              <a:t>EventEmitter</a:t>
            </a:r>
            <a:r>
              <a:rPr lang="en-IN" dirty="0"/>
              <a:t>&lt;number&gt;(); </a:t>
            </a:r>
          </a:p>
          <a:p>
            <a:r>
              <a:rPr lang="en-IN" dirty="0"/>
              <a:t> </a:t>
            </a:r>
            <a:r>
              <a:rPr lang="en-IN" dirty="0" err="1"/>
              <a:t>pvalue:number</a:t>
            </a:r>
            <a:r>
              <a:rPr lang="en-IN" dirty="0"/>
              <a:t>=0;</a:t>
            </a:r>
          </a:p>
          <a:p>
            <a:r>
              <a:rPr lang="en-IN" dirty="0"/>
              <a:t> // emit to parent </a:t>
            </a:r>
          </a:p>
          <a:p>
            <a:r>
              <a:rPr lang="en-IN" dirty="0"/>
              <a:t> </a:t>
            </a:r>
            <a:r>
              <a:rPr lang="en-IN" dirty="0" err="1"/>
              <a:t>updateValueToParent</a:t>
            </a:r>
            <a:r>
              <a:rPr lang="en-IN" dirty="0"/>
              <a:t>(): void { </a:t>
            </a:r>
          </a:p>
          <a:p>
            <a:r>
              <a:rPr lang="en-IN" dirty="0"/>
              <a:t>   </a:t>
            </a:r>
            <a:r>
              <a:rPr lang="en-IN" dirty="0" err="1"/>
              <a:t>this.pvalue</a:t>
            </a:r>
            <a:r>
              <a:rPr lang="en-IN" dirty="0"/>
              <a:t>++;</a:t>
            </a:r>
          </a:p>
          <a:p>
            <a:r>
              <a:rPr lang="en-IN" dirty="0"/>
              <a:t>  </a:t>
            </a:r>
            <a:r>
              <a:rPr lang="en-IN" dirty="0" err="1"/>
              <a:t>this.cvalueChange.emit</a:t>
            </a:r>
            <a:r>
              <a:rPr lang="en-IN" dirty="0"/>
              <a:t>(</a:t>
            </a:r>
            <a:r>
              <a:rPr lang="en-IN" dirty="0" err="1"/>
              <a:t>this.pvalue</a:t>
            </a:r>
            <a:r>
              <a:rPr lang="en-IN" dirty="0"/>
              <a:t>); // send updated value to parent</a:t>
            </a:r>
          </a:p>
          <a:p>
            <a:r>
              <a:rPr lang="en-IN" dirty="0"/>
              <a:t>   }</a:t>
            </a:r>
          </a:p>
          <a:p>
            <a:r>
              <a:rPr lang="en-IN" dirty="0"/>
              <a:t>}</a:t>
            </a:r>
          </a:p>
          <a:p>
            <a:endParaRPr lang="en-IN" b="1" dirty="0"/>
          </a:p>
        </p:txBody>
      </p:sp>
      <p:pic>
        <p:nvPicPr>
          <p:cNvPr id="7" name="Picture 6">
            <a:extLst>
              <a:ext uri="{FF2B5EF4-FFF2-40B4-BE49-F238E27FC236}">
                <a16:creationId xmlns:a16="http://schemas.microsoft.com/office/drawing/2014/main" id="{6EA7CFBA-8054-891D-B128-C39DCA0D897B}"/>
              </a:ext>
            </a:extLst>
          </p:cNvPr>
          <p:cNvPicPr>
            <a:picLocks noChangeAspect="1"/>
          </p:cNvPicPr>
          <p:nvPr/>
        </p:nvPicPr>
        <p:blipFill>
          <a:blip r:embed="rId2"/>
          <a:stretch>
            <a:fillRect/>
          </a:stretch>
        </p:blipFill>
        <p:spPr>
          <a:xfrm>
            <a:off x="6652823" y="1998694"/>
            <a:ext cx="4410075" cy="2095500"/>
          </a:xfrm>
          <a:prstGeom prst="rect">
            <a:avLst/>
          </a:prstGeom>
        </p:spPr>
      </p:pic>
      <p:sp>
        <p:nvSpPr>
          <p:cNvPr id="8" name="TextBox 7">
            <a:extLst>
              <a:ext uri="{FF2B5EF4-FFF2-40B4-BE49-F238E27FC236}">
                <a16:creationId xmlns:a16="http://schemas.microsoft.com/office/drawing/2014/main" id="{9D4094A7-1F18-BE5D-8708-0E20A0324838}"/>
              </a:ext>
            </a:extLst>
          </p:cNvPr>
          <p:cNvSpPr txBox="1"/>
          <p:nvPr/>
        </p:nvSpPr>
        <p:spPr>
          <a:xfrm>
            <a:off x="6494106" y="1007706"/>
            <a:ext cx="5501951" cy="369332"/>
          </a:xfrm>
          <a:prstGeom prst="rect">
            <a:avLst/>
          </a:prstGeom>
          <a:noFill/>
        </p:spPr>
        <p:txBody>
          <a:bodyPr wrap="square" rtlCol="0">
            <a:spAutoFit/>
          </a:bodyPr>
          <a:lstStyle/>
          <a:p>
            <a:r>
              <a:rPr lang="en-IN" b="1" dirty="0"/>
              <a:t>Result</a:t>
            </a:r>
          </a:p>
        </p:txBody>
      </p:sp>
    </p:spTree>
    <p:extLst>
      <p:ext uri="{BB962C8B-B14F-4D97-AF65-F5344CB8AC3E}">
        <p14:creationId xmlns:p14="http://schemas.microsoft.com/office/powerpoint/2010/main" val="8664387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5310" y="367862"/>
            <a:ext cx="10552387" cy="1477328"/>
          </a:xfrm>
          <a:prstGeom prst="rect">
            <a:avLst/>
          </a:prstGeom>
          <a:noFill/>
        </p:spPr>
        <p:txBody>
          <a:bodyPr wrap="square" rtlCol="0">
            <a:spAutoFit/>
          </a:bodyPr>
          <a:lstStyle/>
          <a:p>
            <a:r>
              <a:rPr lang="en-US" dirty="0" err="1"/>
              <a:t>Practise</a:t>
            </a:r>
            <a:endParaRPr lang="en-US" dirty="0"/>
          </a:p>
          <a:p>
            <a:r>
              <a:rPr lang="en-US" dirty="0"/>
              <a:t>-----------</a:t>
            </a:r>
          </a:p>
          <a:p>
            <a:r>
              <a:rPr lang="en-US" dirty="0"/>
              <a:t>a)Parent component should have text fields for </a:t>
            </a:r>
            <a:r>
              <a:rPr lang="en-US" dirty="0" err="1"/>
              <a:t>employeename,salary,address</a:t>
            </a:r>
            <a:endParaRPr lang="en-US" dirty="0"/>
          </a:p>
          <a:p>
            <a:r>
              <a:rPr lang="en-US" dirty="0"/>
              <a:t>b)Once we submit with details Child component should take values as </a:t>
            </a:r>
            <a:r>
              <a:rPr lang="en-US" dirty="0" err="1"/>
              <a:t>json</a:t>
            </a:r>
            <a:r>
              <a:rPr lang="en-US" dirty="0"/>
              <a:t> object and update in Array</a:t>
            </a:r>
          </a:p>
          <a:p>
            <a:r>
              <a:rPr lang="en-US" dirty="0"/>
              <a:t>c)Display all values from Array in child </a:t>
            </a:r>
            <a:r>
              <a:rPr lang="en-US" dirty="0" err="1"/>
              <a:t>componet</a:t>
            </a:r>
            <a:endParaRPr lang="en-US" dirty="0"/>
          </a:p>
        </p:txBody>
      </p:sp>
      <p:sp>
        <p:nvSpPr>
          <p:cNvPr id="3" name="Rectangle 2"/>
          <p:cNvSpPr/>
          <p:nvPr/>
        </p:nvSpPr>
        <p:spPr>
          <a:xfrm>
            <a:off x="1450427" y="2228193"/>
            <a:ext cx="9669517" cy="4141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028496" y="2585544"/>
            <a:ext cx="3563007" cy="2031325"/>
          </a:xfrm>
          <a:prstGeom prst="rect">
            <a:avLst/>
          </a:prstGeom>
          <a:noFill/>
        </p:spPr>
        <p:txBody>
          <a:bodyPr wrap="square" rtlCol="0">
            <a:spAutoFit/>
          </a:bodyPr>
          <a:lstStyle/>
          <a:p>
            <a:r>
              <a:rPr lang="en-US" dirty="0"/>
              <a:t>Employee Name</a:t>
            </a:r>
          </a:p>
          <a:p>
            <a:r>
              <a:rPr lang="en-US" dirty="0"/>
              <a:t>Salary</a:t>
            </a:r>
          </a:p>
          <a:p>
            <a:r>
              <a:rPr lang="en-US" dirty="0"/>
              <a:t>Address</a:t>
            </a:r>
          </a:p>
          <a:p>
            <a:endParaRPr lang="en-US" dirty="0"/>
          </a:p>
          <a:p>
            <a:endParaRPr lang="en-US" dirty="0"/>
          </a:p>
          <a:p>
            <a:r>
              <a:rPr lang="en-US" dirty="0"/>
              <a:t>Employee Details</a:t>
            </a:r>
          </a:p>
          <a:p>
            <a:endParaRPr lang="en-US" dirty="0"/>
          </a:p>
        </p:txBody>
      </p:sp>
      <p:sp>
        <p:nvSpPr>
          <p:cNvPr id="5" name="Rectangle 4"/>
          <p:cNvSpPr/>
          <p:nvPr/>
        </p:nvSpPr>
        <p:spPr>
          <a:xfrm>
            <a:off x="3736427" y="2669627"/>
            <a:ext cx="1781504" cy="2312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736427" y="2984938"/>
            <a:ext cx="1781504" cy="2312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744308" y="3254364"/>
            <a:ext cx="1781504" cy="2312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845675" y="3636579"/>
            <a:ext cx="1781504" cy="2312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Submit</a:t>
            </a:r>
          </a:p>
        </p:txBody>
      </p:sp>
      <p:sp>
        <p:nvSpPr>
          <p:cNvPr id="10" name="TextBox 9"/>
          <p:cNvSpPr txBox="1"/>
          <p:nvPr/>
        </p:nvSpPr>
        <p:spPr>
          <a:xfrm>
            <a:off x="2028496" y="4514455"/>
            <a:ext cx="5675587" cy="923330"/>
          </a:xfrm>
          <a:prstGeom prst="rect">
            <a:avLst/>
          </a:prstGeom>
          <a:noFill/>
        </p:spPr>
        <p:txBody>
          <a:bodyPr wrap="square" rtlCol="0">
            <a:spAutoFit/>
          </a:bodyPr>
          <a:lstStyle/>
          <a:p>
            <a:r>
              <a:rPr lang="en-US" dirty="0"/>
              <a:t>Name      Salary       Address</a:t>
            </a:r>
          </a:p>
          <a:p>
            <a:r>
              <a:rPr lang="en-US" dirty="0"/>
              <a:t>ABC         5000          </a:t>
            </a:r>
            <a:r>
              <a:rPr lang="en-US" dirty="0" err="1"/>
              <a:t>Hyd</a:t>
            </a:r>
            <a:endParaRPr lang="en-US" dirty="0"/>
          </a:p>
          <a:p>
            <a:endParaRPr lang="en-US" dirty="0"/>
          </a:p>
        </p:txBody>
      </p:sp>
      <p:sp>
        <p:nvSpPr>
          <p:cNvPr id="11" name="Right Brace 10"/>
          <p:cNvSpPr/>
          <p:nvPr/>
        </p:nvSpPr>
        <p:spPr>
          <a:xfrm>
            <a:off x="5896303" y="2669627"/>
            <a:ext cx="388883" cy="129277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5507420" y="4042194"/>
            <a:ext cx="388883" cy="129277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6374524" y="3084849"/>
            <a:ext cx="3352800" cy="369332"/>
          </a:xfrm>
          <a:prstGeom prst="rect">
            <a:avLst/>
          </a:prstGeom>
          <a:noFill/>
        </p:spPr>
        <p:txBody>
          <a:bodyPr wrap="square" rtlCol="0">
            <a:spAutoFit/>
          </a:bodyPr>
          <a:lstStyle/>
          <a:p>
            <a:r>
              <a:rPr lang="en-US" dirty="0"/>
              <a:t>Parent Component</a:t>
            </a:r>
          </a:p>
        </p:txBody>
      </p:sp>
      <p:sp>
        <p:nvSpPr>
          <p:cNvPr id="14" name="TextBox 13"/>
          <p:cNvSpPr txBox="1"/>
          <p:nvPr/>
        </p:nvSpPr>
        <p:spPr>
          <a:xfrm>
            <a:off x="6085491" y="4414408"/>
            <a:ext cx="3352800" cy="369332"/>
          </a:xfrm>
          <a:prstGeom prst="rect">
            <a:avLst/>
          </a:prstGeom>
          <a:noFill/>
        </p:spPr>
        <p:txBody>
          <a:bodyPr wrap="square" rtlCol="0">
            <a:spAutoFit/>
          </a:bodyPr>
          <a:lstStyle/>
          <a:p>
            <a:r>
              <a:rPr lang="en-US"/>
              <a:t>Child </a:t>
            </a:r>
            <a:r>
              <a:rPr lang="en-US" dirty="0"/>
              <a:t>Component</a:t>
            </a:r>
          </a:p>
        </p:txBody>
      </p:sp>
    </p:spTree>
    <p:extLst>
      <p:ext uri="{BB962C8B-B14F-4D97-AF65-F5344CB8AC3E}">
        <p14:creationId xmlns:p14="http://schemas.microsoft.com/office/powerpoint/2010/main" val="822515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7F7A28-DE6D-A825-0B03-D27C7AF2F306}"/>
              </a:ext>
            </a:extLst>
          </p:cNvPr>
          <p:cNvSpPr txBox="1"/>
          <p:nvPr/>
        </p:nvSpPr>
        <p:spPr>
          <a:xfrm>
            <a:off x="2537927" y="2575250"/>
            <a:ext cx="7903028" cy="1446550"/>
          </a:xfrm>
          <a:prstGeom prst="rect">
            <a:avLst/>
          </a:prstGeom>
          <a:noFill/>
        </p:spPr>
        <p:txBody>
          <a:bodyPr wrap="square" rtlCol="0">
            <a:spAutoFit/>
          </a:bodyPr>
          <a:lstStyle/>
          <a:p>
            <a:r>
              <a:rPr lang="en-IN" sz="8800" b="1" dirty="0"/>
              <a:t>Angular Routing</a:t>
            </a:r>
          </a:p>
        </p:txBody>
      </p:sp>
    </p:spTree>
    <p:extLst>
      <p:ext uri="{BB962C8B-B14F-4D97-AF65-F5344CB8AC3E}">
        <p14:creationId xmlns:p14="http://schemas.microsoft.com/office/powerpoint/2010/main" val="983916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3165</Words>
  <Application>Microsoft Office PowerPoint</Application>
  <PresentationFormat>Widescreen</PresentationFormat>
  <Paragraphs>683</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Consolas</vt:lpstr>
      <vt:lpstr>Wingdings</vt:lpstr>
      <vt:lpstr>Office Theme</vt:lpstr>
      <vt:lpstr>Angular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Directives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Directive</vt:lpstr>
      <vt:lpstr>PowerPoint Presentation</vt:lpstr>
      <vt:lpstr>PowerPoint Presentation</vt:lpstr>
      <vt:lpstr>Pipes</vt:lpstr>
      <vt:lpstr>PowerPoint Presentation</vt:lpstr>
      <vt:lpstr>PowerPoint Presentation</vt:lpstr>
      <vt:lpstr>PowerPoint Presentation</vt:lpstr>
      <vt:lpstr>PowerPoint Presentation</vt:lpstr>
      <vt:lpstr>  @Input, @Output and EventEmitter (or) Components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Rayapalli, Srikanth (Contractor)</dc:creator>
  <cp:lastModifiedBy>Rayapalli, Srikanth (Contractor)</cp:lastModifiedBy>
  <cp:revision>11</cp:revision>
  <dcterms:created xsi:type="dcterms:W3CDTF">2025-12-26T16:23:13Z</dcterms:created>
  <dcterms:modified xsi:type="dcterms:W3CDTF">2026-01-12T11:05:57Z</dcterms:modified>
</cp:coreProperties>
</file>